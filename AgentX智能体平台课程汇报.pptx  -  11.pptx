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6" r:id="rId16"/>
    <p:sldId id="270" r:id="rId17"/>
    <p:sldId id="277" r:id="rId18"/>
    <p:sldId id="271" r:id="rId19"/>
    <p:sldId id="278" r:id="rId20"/>
    <p:sldId id="272" r:id="rId21"/>
    <p:sldId id="279" r:id="rId22"/>
    <p:sldId id="273" r:id="rId23"/>
    <p:sldId id="274" r:id="rId24"/>
    <p:sldId id="275" r:id="rId25"/>
  </p:sldIdLst>
  <p:sldSz cx="12192000" cy="6858000"/>
  <p:notesSz cx="6858000" cy="9144000"/>
  <p:defaultTextStyle>
    <a:defPPr>
      <a:defRPr lang="zh-CN"/>
    </a:def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90" d="100"/>
          <a:sy n="90" d="100"/>
        </p:scale>
        <p:origin x="85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1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777240" y="1097280"/>
            <a:ext cx="9875520" cy="82296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r>
              <a:rPr lang="zh-CN" sz="3300" dirty="0">
                <a:solidFill>
                  <a:srgbClr val="111827"/>
                </a:solidFill>
                <a:latin typeface="Microsoft YaHei"/>
                <a:ea typeface="Microsoft YaHei"/>
              </a:rPr>
              <a:t>AgentX 智能体平台</a:t>
            </a:r>
            <a:endParaRPr lang="zh-CN" dirty="0"/>
          </a:p>
        </p:txBody>
      </p:sp>
      <p:sp>
        <p:nvSpPr>
          <p:cNvPr id="14" name="TextBox 14"/>
          <p:cNvSpPr txBox="1"/>
          <p:nvPr/>
        </p:nvSpPr>
        <p:spPr>
          <a:xfrm>
            <a:off x="804672" y="1828800"/>
            <a:ext cx="987552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r>
              <a:rPr lang="zh-CN" sz="2000" dirty="0">
                <a:solidFill>
                  <a:srgbClr val="2563EB"/>
                </a:solidFill>
                <a:latin typeface="Microsoft YaHei"/>
                <a:ea typeface="Microsoft YaHei"/>
              </a:rPr>
              <a:t>基于 Spring Boot 与 Next.js 的设计与实现</a:t>
            </a:r>
            <a:endParaRPr lang="zh-CN" dirty="0"/>
          </a:p>
        </p:txBody>
      </p:sp>
      <p:sp>
        <p:nvSpPr>
          <p:cNvPr id="28" name="TextBox 28"/>
          <p:cNvSpPr txBox="1"/>
          <p:nvPr/>
        </p:nvSpPr>
        <p:spPr>
          <a:xfrm>
            <a:off x="822960" y="5897880"/>
            <a:ext cx="8229600" cy="246221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pPr algn="r"/>
            <a:r>
              <a:rPr lang="zh-CN" sz="1600" dirty="0">
                <a:solidFill>
                  <a:srgbClr val="64748B"/>
                </a:solidFill>
                <a:latin typeface="Microsoft YaHei"/>
                <a:ea typeface="Microsoft YaHei"/>
              </a:rPr>
              <a:t>汇报人：________    日期：2026 年 6 月</a:t>
            </a:r>
            <a:endParaRPr lang="zh-CN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/>
          <p:nvPr/>
        </p:nvSpPr>
        <p:spPr>
          <a:xfrm>
            <a:off x="0" y="0"/>
            <a:ext cx="12192000" cy="201168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502920" y="310896"/>
            <a:ext cx="8595360" cy="384721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r>
              <a:rPr lang="zh-CN" sz="2500" dirty="0">
                <a:solidFill>
                  <a:srgbClr val="111827"/>
                </a:solidFill>
                <a:latin typeface="Microsoft YaHei"/>
                <a:ea typeface="Microsoft YaHei"/>
              </a:rPr>
              <a:t>汇报</a:t>
            </a:r>
            <a:r>
              <a:rPr lang="zh-CN" altLang="en-US" sz="2500" dirty="0">
                <a:solidFill>
                  <a:srgbClr val="111827"/>
                </a:solidFill>
                <a:latin typeface="Microsoft YaHei"/>
                <a:ea typeface="Microsoft YaHei"/>
              </a:rPr>
              <a:t>目录</a:t>
            </a:r>
            <a:endParaRPr lang="zh-CN" dirty="0"/>
          </a:p>
        </p:txBody>
      </p:sp>
      <p:sp>
        <p:nvSpPr>
          <p:cNvPr id="14" name="TextBox 14"/>
          <p:cNvSpPr txBox="1"/>
          <p:nvPr/>
        </p:nvSpPr>
        <p:spPr>
          <a:xfrm>
            <a:off x="10195560" y="402336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pPr algn="r"/>
            <a:r>
              <a:rPr lang="zh-CN" sz="1100" dirty="0">
                <a:solidFill>
                  <a:srgbClr val="2563EB"/>
                </a:solidFill>
                <a:latin typeface="Microsoft YaHei"/>
                <a:ea typeface="Microsoft YaHei"/>
              </a:rPr>
              <a:t>AgentX</a:t>
            </a:r>
            <a:endParaRPr lang="zh-CN"/>
          </a:p>
        </p:txBody>
      </p:sp>
      <p:sp>
        <p:nvSpPr>
          <p:cNvPr id="15" name="Shape 15"/>
          <p:cNvSpPr/>
          <p:nvPr/>
        </p:nvSpPr>
        <p:spPr>
          <a:xfrm>
            <a:off x="960120" y="1417320"/>
            <a:ext cx="384048" cy="38404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1069848" y="1481328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pPr algn="ctr"/>
            <a:r>
              <a:rPr lang="zh-CN" sz="1000" dirty="0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 lang="zh-CN"/>
          </a:p>
        </p:txBody>
      </p:sp>
      <p:sp>
        <p:nvSpPr>
          <p:cNvPr id="17" name="TextBox 17"/>
          <p:cNvSpPr txBox="1"/>
          <p:nvPr/>
        </p:nvSpPr>
        <p:spPr>
          <a:xfrm>
            <a:off x="1600200" y="1399032"/>
            <a:ext cx="886968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r>
              <a:rPr lang="zh-CN" sz="1900" dirty="0">
                <a:solidFill>
                  <a:srgbClr val="111827"/>
                </a:solidFill>
                <a:latin typeface="Microsoft YaHei"/>
                <a:ea typeface="Microsoft YaHei"/>
              </a:rPr>
              <a:t>研究背景与项目目标</a:t>
            </a:r>
            <a:endParaRPr lang="zh-CN"/>
          </a:p>
        </p:txBody>
      </p:sp>
      <p:sp>
        <p:nvSpPr>
          <p:cNvPr id="18" name="Shape 18"/>
          <p:cNvSpPr/>
          <p:nvPr/>
        </p:nvSpPr>
        <p:spPr>
          <a:xfrm>
            <a:off x="960120" y="2194560"/>
            <a:ext cx="384048" cy="38404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1069848" y="2258568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pPr algn="ctr"/>
            <a:r>
              <a:rPr lang="zh-CN" sz="1000" dirty="0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 lang="zh-CN"/>
          </a:p>
        </p:txBody>
      </p:sp>
      <p:sp>
        <p:nvSpPr>
          <p:cNvPr id="20" name="TextBox 20"/>
          <p:cNvSpPr txBox="1"/>
          <p:nvPr/>
        </p:nvSpPr>
        <p:spPr>
          <a:xfrm>
            <a:off x="1600200" y="2176272"/>
            <a:ext cx="886968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r>
              <a:rPr lang="zh-CN" sz="1900" dirty="0">
                <a:solidFill>
                  <a:srgbClr val="111827"/>
                </a:solidFill>
                <a:latin typeface="Microsoft YaHei"/>
                <a:ea typeface="Microsoft YaHei"/>
              </a:rPr>
              <a:t>系统总体架构与技术选型</a:t>
            </a:r>
            <a:endParaRPr lang="zh-CN"/>
          </a:p>
        </p:txBody>
      </p:sp>
      <p:sp>
        <p:nvSpPr>
          <p:cNvPr id="21" name="Shape 21"/>
          <p:cNvSpPr/>
          <p:nvPr/>
        </p:nvSpPr>
        <p:spPr>
          <a:xfrm>
            <a:off x="960120" y="2971800"/>
            <a:ext cx="384048" cy="38404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1069848" y="3035808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pPr algn="ctr"/>
            <a:r>
              <a:rPr lang="zh-CN" sz="1000" dirty="0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 lang="zh-CN"/>
          </a:p>
        </p:txBody>
      </p:sp>
      <p:sp>
        <p:nvSpPr>
          <p:cNvPr id="23" name="TextBox 23"/>
          <p:cNvSpPr txBox="1"/>
          <p:nvPr/>
        </p:nvSpPr>
        <p:spPr>
          <a:xfrm>
            <a:off x="1600200" y="2953512"/>
            <a:ext cx="886968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r>
              <a:rPr lang="zh-CN" sz="1900" dirty="0">
                <a:solidFill>
                  <a:srgbClr val="111827"/>
                </a:solidFill>
                <a:latin typeface="Microsoft YaHei"/>
                <a:ea typeface="Microsoft YaHei"/>
              </a:rPr>
              <a:t>Agent / RAG / 工具市场等核心模块</a:t>
            </a:r>
            <a:endParaRPr lang="zh-CN"/>
          </a:p>
        </p:txBody>
      </p:sp>
      <p:sp>
        <p:nvSpPr>
          <p:cNvPr id="24" name="Shape 24"/>
          <p:cNvSpPr/>
          <p:nvPr/>
        </p:nvSpPr>
        <p:spPr>
          <a:xfrm>
            <a:off x="960120" y="3749039"/>
            <a:ext cx="384048" cy="384048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1069848" y="3813047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pPr algn="ctr"/>
            <a:r>
              <a:rPr lang="zh-CN" sz="1000" dirty="0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 lang="zh-CN"/>
          </a:p>
        </p:txBody>
      </p:sp>
      <p:sp>
        <p:nvSpPr>
          <p:cNvPr id="26" name="TextBox 26"/>
          <p:cNvSpPr txBox="1"/>
          <p:nvPr/>
        </p:nvSpPr>
        <p:spPr>
          <a:xfrm>
            <a:off x="1600200" y="3730751"/>
            <a:ext cx="886968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r>
              <a:rPr lang="zh-CN" sz="1900" dirty="0">
                <a:solidFill>
                  <a:srgbClr val="111827"/>
                </a:solidFill>
                <a:latin typeface="Microsoft YaHei"/>
                <a:ea typeface="Microsoft YaHei"/>
              </a:rPr>
              <a:t>云服务器部署与线上演示</a:t>
            </a:r>
            <a:endParaRPr lang="zh-CN"/>
          </a:p>
        </p:txBody>
      </p:sp>
      <p:sp>
        <p:nvSpPr>
          <p:cNvPr id="27" name="Shape 27"/>
          <p:cNvSpPr/>
          <p:nvPr/>
        </p:nvSpPr>
        <p:spPr>
          <a:xfrm>
            <a:off x="960120" y="4526280"/>
            <a:ext cx="384048" cy="384048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1069848" y="4590288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pPr algn="ctr"/>
            <a:r>
              <a:rPr lang="zh-CN" sz="1000" dirty="0">
                <a:solidFill>
                  <a:srgbClr val="FFFFFF"/>
                </a:solidFill>
                <a:latin typeface="Microsoft YaHei"/>
                <a:ea typeface="Microsoft YaHei"/>
              </a:rPr>
              <a:t>5</a:t>
            </a:r>
            <a:endParaRPr lang="zh-CN"/>
          </a:p>
        </p:txBody>
      </p:sp>
      <p:sp>
        <p:nvSpPr>
          <p:cNvPr id="29" name="TextBox 29"/>
          <p:cNvSpPr txBox="1"/>
          <p:nvPr/>
        </p:nvSpPr>
        <p:spPr>
          <a:xfrm>
            <a:off x="1600200" y="4507992"/>
            <a:ext cx="886968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r>
              <a:rPr lang="zh-CN" sz="1900" dirty="0">
                <a:solidFill>
                  <a:srgbClr val="111827"/>
                </a:solidFill>
                <a:latin typeface="Microsoft YaHei"/>
                <a:ea typeface="Microsoft YaHei"/>
              </a:rPr>
              <a:t>测试验证、难点分析与后续改进</a:t>
            </a:r>
            <a:endParaRPr lang="zh-CN"/>
          </a:p>
        </p:txBody>
      </p:sp>
      <p:cxnSp>
        <p:nvCxnSpPr>
          <p:cNvPr id="30" name="Connector 30"/>
          <p:cNvCxnSpPr/>
          <p:nvPr/>
        </p:nvCxnSpPr>
        <p:spPr>
          <a:xfrm>
            <a:off x="502920" y="6473952"/>
            <a:ext cx="11155680" cy="1"/>
          </a:xfrm>
          <a:prstGeom prst="straightConnector1">
            <a:avLst/>
          </a:prstGeom>
          <a:ln w="9000">
            <a:solidFill>
              <a:srgbClr val="E2E8F0"/>
            </a:solidFill>
          </a:ln>
        </p:spPr>
      </p:cxnSp>
      <p:sp>
        <p:nvSpPr>
          <p:cNvPr id="31" name="TextBox 31"/>
          <p:cNvSpPr txBox="1"/>
          <p:nvPr/>
        </p:nvSpPr>
        <p:spPr>
          <a:xfrm>
            <a:off x="548640" y="6510528"/>
            <a:ext cx="530352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r>
              <a:rPr lang="zh-CN" sz="850" dirty="0">
                <a:solidFill>
                  <a:srgbClr val="64748B"/>
                </a:solidFill>
                <a:latin typeface="Microsoft YaHei"/>
                <a:ea typeface="Microsoft YaHei"/>
              </a:rPr>
              <a:t>基于 Spring Boot 与 Next.js 的智能 Agent 平台设计与实现</a:t>
            </a:r>
            <a:endParaRPr lang="zh-CN"/>
          </a:p>
        </p:txBody>
      </p:sp>
      <p:sp>
        <p:nvSpPr>
          <p:cNvPr id="32" name="TextBox 32"/>
          <p:cNvSpPr txBox="1"/>
          <p:nvPr/>
        </p:nvSpPr>
        <p:spPr>
          <a:xfrm>
            <a:off x="11064240" y="6510528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pPr algn="r"/>
            <a:r>
              <a:rPr lang="zh-CN" sz="850" dirty="0">
                <a:solidFill>
                  <a:srgbClr val="64748B"/>
                </a:solidFill>
                <a:latin typeface="Microsoft YaHei"/>
                <a:ea typeface="Microsoft YaHei"/>
              </a:rPr>
              <a:t>02</a:t>
            </a:r>
            <a:endParaRPr lang="zh-C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/>
          <p:nvPr/>
        </p:nvSpPr>
        <p:spPr>
          <a:xfrm>
            <a:off x="0" y="0"/>
            <a:ext cx="12192000" cy="201168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502920" y="310896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r>
              <a:rPr lang="zh-CN" sz="2500" dirty="0">
                <a:solidFill>
                  <a:srgbClr val="111827"/>
                </a:solidFill>
                <a:latin typeface="Microsoft YaHei"/>
                <a:ea typeface="Microsoft YaHei"/>
              </a:rPr>
              <a:t>研究背景：从聊天应用到 Agent 平台</a:t>
            </a:r>
            <a:endParaRPr lang="zh-CN"/>
          </a:p>
        </p:txBody>
      </p:sp>
      <p:sp>
        <p:nvSpPr>
          <p:cNvPr id="14" name="TextBox 14"/>
          <p:cNvSpPr txBox="1"/>
          <p:nvPr/>
        </p:nvSpPr>
        <p:spPr>
          <a:xfrm>
            <a:off x="10195560" y="402336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pPr algn="r"/>
            <a:r>
              <a:rPr lang="zh-CN" sz="1100" dirty="0">
                <a:solidFill>
                  <a:srgbClr val="2563EB"/>
                </a:solidFill>
                <a:latin typeface="Microsoft YaHei"/>
                <a:ea typeface="Microsoft YaHei"/>
              </a:rPr>
              <a:t>AgentX</a:t>
            </a:r>
            <a:endParaRPr lang="zh-CN"/>
          </a:p>
        </p:txBody>
      </p:sp>
      <p:sp>
        <p:nvSpPr>
          <p:cNvPr id="15" name="Shape 15"/>
          <p:cNvSpPr/>
          <p:nvPr/>
        </p:nvSpPr>
        <p:spPr>
          <a:xfrm>
            <a:off x="685800" y="1417320"/>
            <a:ext cx="342900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2F0"/>
            </a:solidFill>
          </a:ln>
        </p:spPr>
      </p:sp>
      <p:sp>
        <p:nvSpPr>
          <p:cNvPr id="16" name="Shape 16"/>
          <p:cNvSpPr/>
          <p:nvPr/>
        </p:nvSpPr>
        <p:spPr>
          <a:xfrm>
            <a:off x="685800" y="1417320"/>
            <a:ext cx="73152" cy="1828800"/>
          </a:xfrm>
          <a:prstGeom prst="rect">
            <a:avLst/>
          </a:prstGeom>
          <a:solidFill>
            <a:srgbClr val="F97316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886968" y="1527048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r>
              <a:rPr lang="zh-CN" sz="1500" dirty="0">
                <a:solidFill>
                  <a:srgbClr val="111827"/>
                </a:solidFill>
                <a:latin typeface="Microsoft YaHei"/>
                <a:ea typeface="Microsoft YaHei"/>
              </a:rPr>
              <a:t>大模型应用的现实问题</a:t>
            </a:r>
            <a:endParaRPr lang="zh-CN"/>
          </a:p>
        </p:txBody>
      </p:sp>
      <p:sp>
        <p:nvSpPr>
          <p:cNvPr id="18" name="TextBox 18"/>
          <p:cNvSpPr txBox="1"/>
          <p:nvPr/>
        </p:nvSpPr>
        <p:spPr>
          <a:xfrm>
            <a:off x="886968" y="1920240"/>
            <a:ext cx="3108960" cy="1254189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pPr marL="260000" indent="-150000">
              <a:lnSpc>
                <a:spcPct val="150000"/>
              </a:lnSpc>
              <a:buChar char="•"/>
            </a:pPr>
            <a:r>
              <a:rPr lang="zh-CN" sz="1400" dirty="0">
                <a:solidFill>
                  <a:srgbClr val="64748B"/>
                </a:solidFill>
                <a:latin typeface="Microsoft YaHei"/>
                <a:ea typeface="Microsoft YaHei"/>
              </a:rPr>
              <a:t>无法直接访问私有业务知识</a:t>
            </a:r>
            <a:endParaRPr lang="zh-CN" sz="1400" dirty="0"/>
          </a:p>
          <a:p>
            <a:pPr marL="260000" indent="-150000">
              <a:lnSpc>
                <a:spcPct val="150000"/>
              </a:lnSpc>
              <a:buChar char="•"/>
            </a:pPr>
            <a:r>
              <a:rPr lang="zh-CN" sz="1400" dirty="0">
                <a:solidFill>
                  <a:srgbClr val="64748B"/>
                </a:solidFill>
                <a:latin typeface="Microsoft YaHei"/>
                <a:ea typeface="Microsoft YaHei"/>
              </a:rPr>
              <a:t>缺少稳定的工具调用机制</a:t>
            </a:r>
            <a:endParaRPr lang="zh-CN" sz="1400" dirty="0"/>
          </a:p>
          <a:p>
            <a:pPr marL="260000" indent="-150000">
              <a:lnSpc>
                <a:spcPct val="150000"/>
              </a:lnSpc>
              <a:buChar char="•"/>
            </a:pPr>
            <a:r>
              <a:rPr lang="zh-CN" sz="1400" dirty="0">
                <a:solidFill>
                  <a:srgbClr val="64748B"/>
                </a:solidFill>
                <a:latin typeface="Microsoft YaHei"/>
                <a:ea typeface="Microsoft YaHei"/>
              </a:rPr>
              <a:t>用户、权限、计费、部署都需要工程支撑</a:t>
            </a:r>
            <a:endParaRPr lang="zh-CN" sz="1400" dirty="0"/>
          </a:p>
        </p:txBody>
      </p:sp>
      <p:sp>
        <p:nvSpPr>
          <p:cNvPr id="19" name="Shape 19"/>
          <p:cNvSpPr/>
          <p:nvPr/>
        </p:nvSpPr>
        <p:spPr>
          <a:xfrm>
            <a:off x="4389120" y="1417320"/>
            <a:ext cx="342900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2F0"/>
            </a:solidFill>
          </a:ln>
        </p:spPr>
      </p:sp>
      <p:sp>
        <p:nvSpPr>
          <p:cNvPr id="20" name="Shape 20"/>
          <p:cNvSpPr/>
          <p:nvPr/>
        </p:nvSpPr>
        <p:spPr>
          <a:xfrm>
            <a:off x="4389120" y="1417320"/>
            <a:ext cx="73152" cy="18288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4590288" y="1527048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r>
              <a:rPr lang="zh-CN" sz="1500" dirty="0">
                <a:solidFill>
                  <a:srgbClr val="111827"/>
                </a:solidFill>
                <a:latin typeface="Microsoft YaHei"/>
                <a:ea typeface="Microsoft YaHei"/>
              </a:rPr>
              <a:t>Agent 平台的核心诉求</a:t>
            </a:r>
            <a:endParaRPr lang="zh-CN"/>
          </a:p>
        </p:txBody>
      </p:sp>
      <p:sp>
        <p:nvSpPr>
          <p:cNvPr id="22" name="TextBox 22"/>
          <p:cNvSpPr txBox="1"/>
          <p:nvPr/>
        </p:nvSpPr>
        <p:spPr>
          <a:xfrm>
            <a:off x="4590288" y="1920240"/>
            <a:ext cx="3108960" cy="931024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pPr marL="260000" indent="-150000">
              <a:lnSpc>
                <a:spcPct val="150000"/>
              </a:lnSpc>
              <a:buChar char="•"/>
            </a:pPr>
            <a:r>
              <a:rPr lang="zh-CN" sz="1400" dirty="0">
                <a:solidFill>
                  <a:srgbClr val="64748B"/>
                </a:solidFill>
                <a:latin typeface="Microsoft YaHei"/>
                <a:ea typeface="Microsoft YaHei"/>
              </a:rPr>
              <a:t>将模型、工具、知识库组合起来</a:t>
            </a:r>
            <a:endParaRPr lang="zh-CN" sz="1400" dirty="0"/>
          </a:p>
          <a:p>
            <a:pPr marL="260000" indent="-150000">
              <a:lnSpc>
                <a:spcPct val="150000"/>
              </a:lnSpc>
              <a:buChar char="•"/>
            </a:pPr>
            <a:r>
              <a:rPr lang="zh-CN" sz="1400" dirty="0">
                <a:solidFill>
                  <a:srgbClr val="64748B"/>
                </a:solidFill>
                <a:latin typeface="Microsoft YaHei"/>
                <a:ea typeface="Microsoft YaHei"/>
              </a:rPr>
              <a:t>支持多用户创建和管理 Agent</a:t>
            </a:r>
            <a:endParaRPr lang="zh-CN" sz="1400" dirty="0"/>
          </a:p>
          <a:p>
            <a:pPr marL="260000" indent="-150000">
              <a:lnSpc>
                <a:spcPct val="150000"/>
              </a:lnSpc>
              <a:buChar char="•"/>
            </a:pPr>
            <a:r>
              <a:rPr lang="zh-CN" sz="1400" dirty="0">
                <a:solidFill>
                  <a:srgbClr val="64748B"/>
                </a:solidFill>
                <a:latin typeface="Microsoft YaHei"/>
                <a:ea typeface="Microsoft YaHei"/>
              </a:rPr>
              <a:t>让运行过程可追踪、可治理</a:t>
            </a:r>
            <a:endParaRPr lang="zh-CN" sz="1400" dirty="0"/>
          </a:p>
        </p:txBody>
      </p:sp>
      <p:sp>
        <p:nvSpPr>
          <p:cNvPr id="23" name="Shape 23"/>
          <p:cNvSpPr/>
          <p:nvPr/>
        </p:nvSpPr>
        <p:spPr>
          <a:xfrm>
            <a:off x="8092440" y="1417320"/>
            <a:ext cx="342900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2F0"/>
            </a:solidFill>
          </a:ln>
        </p:spPr>
      </p:sp>
      <p:sp>
        <p:nvSpPr>
          <p:cNvPr id="24" name="Shape 24"/>
          <p:cNvSpPr/>
          <p:nvPr/>
        </p:nvSpPr>
        <p:spPr>
          <a:xfrm>
            <a:off x="8092440" y="1417320"/>
            <a:ext cx="73152" cy="1828800"/>
          </a:xfrm>
          <a:prstGeom prst="rect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8293608" y="1527048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r>
              <a:rPr lang="zh-CN" sz="1500" dirty="0">
                <a:solidFill>
                  <a:srgbClr val="111827"/>
                </a:solidFill>
                <a:latin typeface="Microsoft YaHei"/>
                <a:ea typeface="Microsoft YaHei"/>
              </a:rPr>
              <a:t>本项目的工程定位</a:t>
            </a:r>
            <a:endParaRPr lang="zh-CN"/>
          </a:p>
        </p:txBody>
      </p:sp>
      <p:sp>
        <p:nvSpPr>
          <p:cNvPr id="26" name="TextBox 26"/>
          <p:cNvSpPr txBox="1"/>
          <p:nvPr/>
        </p:nvSpPr>
        <p:spPr>
          <a:xfrm>
            <a:off x="8293608" y="1920240"/>
            <a:ext cx="3108960" cy="1254189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pPr marL="260000" indent="-150000">
              <a:lnSpc>
                <a:spcPct val="150000"/>
              </a:lnSpc>
              <a:buChar char="•"/>
            </a:pPr>
            <a:r>
              <a:rPr lang="zh-CN" sz="1400" dirty="0">
                <a:solidFill>
                  <a:srgbClr val="64748B"/>
                </a:solidFill>
                <a:latin typeface="Microsoft YaHei"/>
                <a:ea typeface="Microsoft YaHei"/>
              </a:rPr>
              <a:t>完整前后端分离系统</a:t>
            </a:r>
            <a:endParaRPr lang="zh-CN" sz="1400" dirty="0"/>
          </a:p>
          <a:p>
            <a:pPr marL="260000" indent="-150000">
              <a:lnSpc>
                <a:spcPct val="150000"/>
              </a:lnSpc>
              <a:buChar char="•"/>
            </a:pPr>
            <a:r>
              <a:rPr lang="zh-CN" sz="1400" dirty="0">
                <a:solidFill>
                  <a:srgbClr val="64748B"/>
                </a:solidFill>
                <a:latin typeface="Microsoft YaHei"/>
                <a:ea typeface="Microsoft YaHei"/>
              </a:rPr>
              <a:t>RAG、工具市场、管理后台、部署闭环</a:t>
            </a:r>
            <a:endParaRPr lang="zh-CN" sz="1400" dirty="0"/>
          </a:p>
          <a:p>
            <a:pPr marL="260000" indent="-150000">
              <a:lnSpc>
                <a:spcPct val="150000"/>
              </a:lnSpc>
              <a:buChar char="•"/>
            </a:pPr>
            <a:r>
              <a:rPr lang="zh-CN" sz="1400" dirty="0">
                <a:solidFill>
                  <a:srgbClr val="64748B"/>
                </a:solidFill>
                <a:latin typeface="Microsoft YaHei"/>
                <a:ea typeface="Microsoft YaHei"/>
              </a:rPr>
              <a:t>能上线演示、能说明设计取舍</a:t>
            </a:r>
            <a:endParaRPr lang="zh-CN" sz="1400" dirty="0"/>
          </a:p>
        </p:txBody>
      </p:sp>
      <p:sp>
        <p:nvSpPr>
          <p:cNvPr id="27" name="TextBox 27"/>
          <p:cNvSpPr txBox="1"/>
          <p:nvPr/>
        </p:nvSpPr>
        <p:spPr>
          <a:xfrm>
            <a:off x="914400" y="4069080"/>
            <a:ext cx="10332720" cy="11430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D8E2F0"/>
            </a:solidFill>
          </a:ln>
        </p:spPr>
        <p:txBody>
          <a:bodyPr wrap="square" lIns="91440" tIns="45720" rIns="91440" bIns="45720">
            <a:spAutoFit/>
          </a:bodyPr>
          <a:lstStyle/>
          <a:p>
            <a:r>
              <a:rPr lang="zh-CN" sz="1800" dirty="0">
                <a:solidFill>
                  <a:srgbClr val="111827"/>
                </a:solidFill>
                <a:latin typeface="Microsoft YaHei"/>
                <a:ea typeface="Microsoft YaHei"/>
              </a:rPr>
              <a:t>核心观点</a:t>
            </a:r>
            <a:endParaRPr lang="zh-CN"/>
          </a:p>
          <a:p>
            <a:r>
              <a:rPr lang="zh-CN" sz="1800" dirty="0">
                <a:solidFill>
                  <a:srgbClr val="111827"/>
                </a:solidFill>
                <a:latin typeface="Microsoft YaHei"/>
                <a:ea typeface="Microsoft YaHei"/>
              </a:rPr>
              <a:t>一个能落地的 Agent 系统，需要把“模型能力”放进完整的软件工程体系中：数据、接口、权限、任务、部署和运营能力同样重要。</a:t>
            </a:r>
            <a:endParaRPr lang="zh-CN"/>
          </a:p>
        </p:txBody>
      </p:sp>
      <p:cxnSp>
        <p:nvCxnSpPr>
          <p:cNvPr id="28" name="Connector 28"/>
          <p:cNvCxnSpPr/>
          <p:nvPr/>
        </p:nvCxnSpPr>
        <p:spPr>
          <a:xfrm>
            <a:off x="502920" y="6473952"/>
            <a:ext cx="11155680" cy="1"/>
          </a:xfrm>
          <a:prstGeom prst="straightConnector1">
            <a:avLst/>
          </a:prstGeom>
          <a:ln w="9000">
            <a:solidFill>
              <a:srgbClr val="E2E8F0"/>
            </a:solidFill>
          </a:ln>
        </p:spPr>
      </p:cxnSp>
      <p:sp>
        <p:nvSpPr>
          <p:cNvPr id="29" name="TextBox 29"/>
          <p:cNvSpPr txBox="1"/>
          <p:nvPr/>
        </p:nvSpPr>
        <p:spPr>
          <a:xfrm>
            <a:off x="548640" y="6510528"/>
            <a:ext cx="530352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r>
              <a:rPr lang="zh-CN" sz="850" dirty="0">
                <a:solidFill>
                  <a:srgbClr val="64748B"/>
                </a:solidFill>
                <a:latin typeface="Microsoft YaHei"/>
                <a:ea typeface="Microsoft YaHei"/>
              </a:rPr>
              <a:t>基于 Spring Boot 与 Next.js 的智能 Agent 平台设计与实现</a:t>
            </a:r>
            <a:endParaRPr lang="zh-CN"/>
          </a:p>
        </p:txBody>
      </p:sp>
      <p:sp>
        <p:nvSpPr>
          <p:cNvPr id="30" name="TextBox 30"/>
          <p:cNvSpPr txBox="1"/>
          <p:nvPr/>
        </p:nvSpPr>
        <p:spPr>
          <a:xfrm>
            <a:off x="11064240" y="6510528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pPr algn="r"/>
            <a:r>
              <a:rPr lang="zh-CN" sz="850" dirty="0">
                <a:solidFill>
                  <a:srgbClr val="64748B"/>
                </a:solidFill>
                <a:latin typeface="Microsoft YaHei"/>
                <a:ea typeface="Microsoft YaHei"/>
              </a:rPr>
              <a:t>03</a:t>
            </a:r>
            <a:endParaRPr lang="zh-C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/>
          <p:nvPr/>
        </p:nvSpPr>
        <p:spPr>
          <a:xfrm>
            <a:off x="0" y="0"/>
            <a:ext cx="12192000" cy="201168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502920" y="310896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r>
              <a:rPr lang="zh-CN" sz="2500" dirty="0">
                <a:solidFill>
                  <a:srgbClr val="111827"/>
                </a:solidFill>
                <a:latin typeface="Microsoft YaHei"/>
                <a:ea typeface="Microsoft YaHei"/>
              </a:rPr>
              <a:t>项目目标与功能边界</a:t>
            </a:r>
            <a:endParaRPr lang="zh-CN"/>
          </a:p>
        </p:txBody>
      </p:sp>
      <p:sp>
        <p:nvSpPr>
          <p:cNvPr id="13" name="TextBox 13"/>
          <p:cNvSpPr txBox="1"/>
          <p:nvPr/>
        </p:nvSpPr>
        <p:spPr>
          <a:xfrm>
            <a:off x="530352" y="768096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r>
              <a:rPr lang="zh-CN" sz="1150" dirty="0">
                <a:solidFill>
                  <a:srgbClr val="64748B"/>
                </a:solidFill>
                <a:latin typeface="Microsoft YaHei"/>
                <a:ea typeface="Microsoft YaHei"/>
              </a:rPr>
              <a:t>以 AgentX 为例，实现一个可配置、可扩展、可部署的智能体平台</a:t>
            </a:r>
            <a:endParaRPr lang="zh-CN"/>
          </a:p>
        </p:txBody>
      </p:sp>
      <p:sp>
        <p:nvSpPr>
          <p:cNvPr id="14" name="TextBox 14"/>
          <p:cNvSpPr txBox="1"/>
          <p:nvPr/>
        </p:nvSpPr>
        <p:spPr>
          <a:xfrm>
            <a:off x="10195560" y="402336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pPr algn="r"/>
            <a:r>
              <a:rPr lang="zh-CN" sz="1100" dirty="0">
                <a:solidFill>
                  <a:srgbClr val="2563EB"/>
                </a:solidFill>
                <a:latin typeface="Microsoft YaHei"/>
                <a:ea typeface="Microsoft YaHei"/>
              </a:rPr>
              <a:t>AgentX</a:t>
            </a:r>
            <a:endParaRPr lang="zh-CN"/>
          </a:p>
        </p:txBody>
      </p:sp>
      <p:sp>
        <p:nvSpPr>
          <p:cNvPr id="15" name="Shape 15"/>
          <p:cNvSpPr/>
          <p:nvPr/>
        </p:nvSpPr>
        <p:spPr>
          <a:xfrm>
            <a:off x="777240" y="1325880"/>
            <a:ext cx="3291840" cy="35661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2F0"/>
            </a:solidFill>
          </a:ln>
        </p:spPr>
      </p:sp>
      <p:sp>
        <p:nvSpPr>
          <p:cNvPr id="16" name="Shape 16"/>
          <p:cNvSpPr/>
          <p:nvPr/>
        </p:nvSpPr>
        <p:spPr>
          <a:xfrm>
            <a:off x="777240" y="1325880"/>
            <a:ext cx="73152" cy="356616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978408" y="1435608"/>
            <a:ext cx="297180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r>
              <a:rPr lang="zh-CN" sz="1500" dirty="0">
                <a:solidFill>
                  <a:srgbClr val="111827"/>
                </a:solidFill>
                <a:latin typeface="Microsoft YaHei"/>
                <a:ea typeface="Microsoft YaHei"/>
              </a:rPr>
              <a:t>用户端</a:t>
            </a:r>
            <a:endParaRPr lang="zh-CN"/>
          </a:p>
        </p:txBody>
      </p:sp>
      <p:sp>
        <p:nvSpPr>
          <p:cNvPr id="18" name="TextBox 18"/>
          <p:cNvSpPr txBox="1"/>
          <p:nvPr/>
        </p:nvSpPr>
        <p:spPr>
          <a:xfrm>
            <a:off x="978408" y="1828800"/>
            <a:ext cx="2971800" cy="1577355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pPr marL="260000" indent="-150000">
              <a:lnSpc>
                <a:spcPct val="150000"/>
              </a:lnSpc>
              <a:buChar char="•"/>
            </a:pPr>
            <a:r>
              <a:rPr lang="zh-CN" sz="1400" dirty="0">
                <a:solidFill>
                  <a:srgbClr val="64748B"/>
                </a:solidFill>
                <a:latin typeface="Microsoft YaHei"/>
                <a:ea typeface="Microsoft YaHei"/>
              </a:rPr>
              <a:t>注册登录</a:t>
            </a:r>
            <a:endParaRPr lang="zh-CN" sz="1400"/>
          </a:p>
          <a:p>
            <a:pPr marL="260000" indent="-150000">
              <a:lnSpc>
                <a:spcPct val="150000"/>
              </a:lnSpc>
              <a:buChar char="•"/>
            </a:pPr>
            <a:r>
              <a:rPr lang="zh-CN" sz="1400" dirty="0">
                <a:solidFill>
                  <a:srgbClr val="64748B"/>
                </a:solidFill>
                <a:latin typeface="Microsoft YaHei"/>
                <a:ea typeface="Microsoft YaHei"/>
              </a:rPr>
              <a:t>工作室</a:t>
            </a:r>
            <a:endParaRPr lang="zh-CN" sz="1400"/>
          </a:p>
          <a:p>
            <a:pPr marL="260000" indent="-150000">
              <a:lnSpc>
                <a:spcPct val="150000"/>
              </a:lnSpc>
              <a:buChar char="•"/>
            </a:pPr>
            <a:r>
              <a:rPr lang="zh-CN" sz="1400" dirty="0">
                <a:solidFill>
                  <a:srgbClr val="64748B"/>
                </a:solidFill>
                <a:latin typeface="Microsoft YaHei"/>
                <a:ea typeface="Microsoft YaHei"/>
              </a:rPr>
              <a:t>Agent 会话</a:t>
            </a:r>
            <a:endParaRPr lang="zh-CN" sz="1400"/>
          </a:p>
          <a:p>
            <a:pPr marL="260000" indent="-150000">
              <a:lnSpc>
                <a:spcPct val="150000"/>
              </a:lnSpc>
              <a:buChar char="•"/>
            </a:pPr>
            <a:r>
              <a:rPr lang="zh-CN" sz="1400" dirty="0">
                <a:solidFill>
                  <a:srgbClr val="64748B"/>
                </a:solidFill>
                <a:latin typeface="Microsoft YaHei"/>
                <a:ea typeface="Microsoft YaHei"/>
              </a:rPr>
              <a:t>知识库</a:t>
            </a:r>
            <a:endParaRPr lang="zh-CN" sz="1400"/>
          </a:p>
          <a:p>
            <a:pPr marL="260000" indent="-150000">
              <a:lnSpc>
                <a:spcPct val="150000"/>
              </a:lnSpc>
              <a:buChar char="•"/>
            </a:pPr>
            <a:r>
              <a:rPr lang="zh-CN" sz="1400" dirty="0">
                <a:solidFill>
                  <a:srgbClr val="64748B"/>
                </a:solidFill>
                <a:latin typeface="Microsoft YaHei"/>
                <a:ea typeface="Microsoft YaHei"/>
              </a:rPr>
              <a:t>工具市场</a:t>
            </a:r>
            <a:endParaRPr lang="zh-CN" sz="1400"/>
          </a:p>
        </p:txBody>
      </p:sp>
      <p:sp>
        <p:nvSpPr>
          <p:cNvPr id="19" name="Shape 19"/>
          <p:cNvSpPr/>
          <p:nvPr/>
        </p:nvSpPr>
        <p:spPr>
          <a:xfrm>
            <a:off x="4480559" y="1325880"/>
            <a:ext cx="3291840" cy="35661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2F0"/>
            </a:solidFill>
          </a:ln>
        </p:spPr>
      </p:sp>
      <p:sp>
        <p:nvSpPr>
          <p:cNvPr id="20" name="Shape 20"/>
          <p:cNvSpPr/>
          <p:nvPr/>
        </p:nvSpPr>
        <p:spPr>
          <a:xfrm>
            <a:off x="4480559" y="1325880"/>
            <a:ext cx="73152" cy="3566160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4681727" y="1435608"/>
            <a:ext cx="297180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r>
              <a:rPr lang="zh-CN" sz="1500" dirty="0">
                <a:solidFill>
                  <a:srgbClr val="111827"/>
                </a:solidFill>
                <a:latin typeface="Microsoft YaHei"/>
                <a:ea typeface="Microsoft YaHei"/>
              </a:rPr>
              <a:t>智能能力</a:t>
            </a:r>
            <a:endParaRPr lang="zh-CN"/>
          </a:p>
        </p:txBody>
      </p:sp>
      <p:sp>
        <p:nvSpPr>
          <p:cNvPr id="22" name="TextBox 22"/>
          <p:cNvSpPr txBox="1"/>
          <p:nvPr/>
        </p:nvSpPr>
        <p:spPr>
          <a:xfrm>
            <a:off x="4681727" y="1828800"/>
            <a:ext cx="2971800" cy="1577355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pPr marL="260000" indent="-150000">
              <a:lnSpc>
                <a:spcPct val="150000"/>
              </a:lnSpc>
              <a:buChar char="•"/>
            </a:pPr>
            <a:r>
              <a:rPr lang="zh-CN" sz="1400" dirty="0">
                <a:solidFill>
                  <a:srgbClr val="64748B"/>
                </a:solidFill>
                <a:latin typeface="Microsoft YaHei"/>
                <a:ea typeface="Microsoft YaHei"/>
              </a:rPr>
              <a:t>多模型配置</a:t>
            </a:r>
            <a:endParaRPr lang="zh-CN" sz="1400" dirty="0"/>
          </a:p>
          <a:p>
            <a:pPr marL="260000" indent="-150000">
              <a:lnSpc>
                <a:spcPct val="150000"/>
              </a:lnSpc>
              <a:buChar char="•"/>
            </a:pPr>
            <a:r>
              <a:rPr lang="zh-CN" sz="1400" dirty="0">
                <a:solidFill>
                  <a:srgbClr val="64748B"/>
                </a:solidFill>
                <a:latin typeface="Microsoft YaHei"/>
                <a:ea typeface="Microsoft YaHei"/>
              </a:rPr>
              <a:t>RAG 检索增强</a:t>
            </a:r>
            <a:endParaRPr lang="zh-CN" sz="1400" dirty="0"/>
          </a:p>
          <a:p>
            <a:pPr marL="260000" indent="-150000">
              <a:lnSpc>
                <a:spcPct val="150000"/>
              </a:lnSpc>
              <a:buChar char="•"/>
            </a:pPr>
            <a:r>
              <a:rPr lang="zh-CN" sz="1400" dirty="0">
                <a:solidFill>
                  <a:srgbClr val="64748B"/>
                </a:solidFill>
                <a:latin typeface="Microsoft YaHei"/>
                <a:ea typeface="Microsoft YaHei"/>
              </a:rPr>
              <a:t>记忆管理</a:t>
            </a:r>
            <a:endParaRPr lang="zh-CN" sz="1400" dirty="0"/>
          </a:p>
          <a:p>
            <a:pPr marL="260000" indent="-150000">
              <a:lnSpc>
                <a:spcPct val="150000"/>
              </a:lnSpc>
              <a:buChar char="•"/>
            </a:pPr>
            <a:r>
              <a:rPr lang="zh-CN" sz="1400" dirty="0">
                <a:solidFill>
                  <a:srgbClr val="64748B"/>
                </a:solidFill>
                <a:latin typeface="Microsoft YaHei"/>
                <a:ea typeface="Microsoft YaHei"/>
              </a:rPr>
              <a:t>工具调用</a:t>
            </a:r>
            <a:endParaRPr lang="zh-CN" sz="1400" dirty="0"/>
          </a:p>
          <a:p>
            <a:pPr marL="260000" indent="-150000">
              <a:lnSpc>
                <a:spcPct val="150000"/>
              </a:lnSpc>
              <a:buChar char="•"/>
            </a:pPr>
            <a:r>
              <a:rPr lang="zh-CN" sz="1400" dirty="0">
                <a:solidFill>
                  <a:srgbClr val="64748B"/>
                </a:solidFill>
                <a:latin typeface="Microsoft YaHei"/>
                <a:ea typeface="Microsoft YaHei"/>
              </a:rPr>
              <a:t>执行追踪</a:t>
            </a:r>
            <a:endParaRPr lang="zh-CN" sz="1400" dirty="0"/>
          </a:p>
        </p:txBody>
      </p:sp>
      <p:sp>
        <p:nvSpPr>
          <p:cNvPr id="23" name="Shape 23"/>
          <p:cNvSpPr/>
          <p:nvPr/>
        </p:nvSpPr>
        <p:spPr>
          <a:xfrm>
            <a:off x="8183879" y="1325880"/>
            <a:ext cx="3291840" cy="35661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2F0"/>
            </a:solidFill>
          </a:ln>
        </p:spPr>
      </p:sp>
      <p:sp>
        <p:nvSpPr>
          <p:cNvPr id="24" name="Shape 24"/>
          <p:cNvSpPr/>
          <p:nvPr/>
        </p:nvSpPr>
        <p:spPr>
          <a:xfrm>
            <a:off x="8183879" y="1325880"/>
            <a:ext cx="73152" cy="3566160"/>
          </a:xfrm>
          <a:prstGeom prst="rect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8385047" y="1435608"/>
            <a:ext cx="297180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r>
              <a:rPr lang="zh-CN" sz="1500" dirty="0">
                <a:solidFill>
                  <a:srgbClr val="111827"/>
                </a:solidFill>
                <a:latin typeface="Microsoft YaHei"/>
                <a:ea typeface="Microsoft YaHei"/>
              </a:rPr>
              <a:t>平台端</a:t>
            </a:r>
            <a:endParaRPr lang="zh-CN"/>
          </a:p>
        </p:txBody>
      </p:sp>
      <p:sp>
        <p:nvSpPr>
          <p:cNvPr id="26" name="TextBox 26"/>
          <p:cNvSpPr txBox="1"/>
          <p:nvPr/>
        </p:nvSpPr>
        <p:spPr>
          <a:xfrm>
            <a:off x="8385047" y="1828800"/>
            <a:ext cx="2971800" cy="1577355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pPr marL="260000" indent="-150000">
              <a:lnSpc>
                <a:spcPct val="150000"/>
              </a:lnSpc>
              <a:buChar char="•"/>
            </a:pPr>
            <a:r>
              <a:rPr lang="zh-CN" sz="1400" dirty="0">
                <a:solidFill>
                  <a:srgbClr val="64748B"/>
                </a:solidFill>
                <a:latin typeface="Microsoft YaHei"/>
                <a:ea typeface="Microsoft YaHei"/>
              </a:rPr>
              <a:t>管理后台</a:t>
            </a:r>
            <a:endParaRPr lang="zh-CN" sz="1400" dirty="0"/>
          </a:p>
          <a:p>
            <a:pPr marL="260000" indent="-150000">
              <a:lnSpc>
                <a:spcPct val="150000"/>
              </a:lnSpc>
              <a:buChar char="•"/>
            </a:pPr>
            <a:r>
              <a:rPr lang="zh-CN" sz="1400" dirty="0">
                <a:solidFill>
                  <a:srgbClr val="64748B"/>
                </a:solidFill>
                <a:latin typeface="Microsoft YaHei"/>
                <a:ea typeface="Microsoft YaHei"/>
              </a:rPr>
              <a:t>工具/RAG 审核</a:t>
            </a:r>
            <a:endParaRPr lang="zh-CN" sz="1400" dirty="0"/>
          </a:p>
          <a:p>
            <a:pPr marL="260000" indent="-150000">
              <a:lnSpc>
                <a:spcPct val="150000"/>
              </a:lnSpc>
              <a:buChar char="•"/>
            </a:pPr>
            <a:r>
              <a:rPr lang="zh-CN" sz="1400" dirty="0">
                <a:solidFill>
                  <a:srgbClr val="64748B"/>
                </a:solidFill>
                <a:latin typeface="Microsoft YaHei"/>
                <a:ea typeface="Microsoft YaHei"/>
              </a:rPr>
              <a:t>订单与计费</a:t>
            </a:r>
            <a:endParaRPr lang="zh-CN" sz="1400" dirty="0"/>
          </a:p>
          <a:p>
            <a:pPr marL="260000" indent="-150000">
              <a:lnSpc>
                <a:spcPct val="150000"/>
              </a:lnSpc>
              <a:buChar char="•"/>
            </a:pPr>
            <a:r>
              <a:rPr lang="zh-CN" sz="1400" dirty="0">
                <a:solidFill>
                  <a:srgbClr val="64748B"/>
                </a:solidFill>
                <a:latin typeface="Microsoft YaHei"/>
                <a:ea typeface="Microsoft YaHei"/>
              </a:rPr>
              <a:t>认证配置</a:t>
            </a:r>
            <a:endParaRPr lang="zh-CN" sz="1400" dirty="0"/>
          </a:p>
          <a:p>
            <a:pPr marL="260000" indent="-150000">
              <a:lnSpc>
                <a:spcPct val="150000"/>
              </a:lnSpc>
              <a:buChar char="•"/>
            </a:pPr>
            <a:r>
              <a:rPr lang="zh-CN" sz="1400" dirty="0">
                <a:solidFill>
                  <a:srgbClr val="64748B"/>
                </a:solidFill>
                <a:latin typeface="Microsoft YaHei"/>
                <a:ea typeface="Microsoft YaHei"/>
              </a:rPr>
              <a:t>容器管理</a:t>
            </a:r>
            <a:endParaRPr lang="zh-CN" sz="1400" dirty="0"/>
          </a:p>
        </p:txBody>
      </p:sp>
      <p:sp>
        <p:nvSpPr>
          <p:cNvPr id="27" name="TextBox 27"/>
          <p:cNvSpPr txBox="1"/>
          <p:nvPr/>
        </p:nvSpPr>
        <p:spPr>
          <a:xfrm>
            <a:off x="914400" y="5257800"/>
            <a:ext cx="1005840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r>
              <a:rPr lang="zh-CN" sz="1600" dirty="0">
                <a:solidFill>
                  <a:srgbClr val="64748B"/>
                </a:solidFill>
                <a:latin typeface="Microsoft YaHei"/>
                <a:ea typeface="Microsoft YaHei"/>
              </a:rPr>
              <a:t>作业表达重点：不仅展示页面，更说明模块边界、数据流、部署链路与后续改进。</a:t>
            </a:r>
            <a:endParaRPr lang="zh-CN"/>
          </a:p>
        </p:txBody>
      </p:sp>
      <p:cxnSp>
        <p:nvCxnSpPr>
          <p:cNvPr id="28" name="Connector 28"/>
          <p:cNvCxnSpPr/>
          <p:nvPr/>
        </p:nvCxnSpPr>
        <p:spPr>
          <a:xfrm>
            <a:off x="502920" y="6473952"/>
            <a:ext cx="11155680" cy="1"/>
          </a:xfrm>
          <a:prstGeom prst="straightConnector1">
            <a:avLst/>
          </a:prstGeom>
          <a:ln w="9000">
            <a:solidFill>
              <a:srgbClr val="E2E8F0"/>
            </a:solidFill>
          </a:ln>
        </p:spPr>
      </p:cxnSp>
      <p:sp>
        <p:nvSpPr>
          <p:cNvPr id="29" name="TextBox 29"/>
          <p:cNvSpPr txBox="1"/>
          <p:nvPr/>
        </p:nvSpPr>
        <p:spPr>
          <a:xfrm>
            <a:off x="548640" y="6510528"/>
            <a:ext cx="530352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r>
              <a:rPr lang="zh-CN" sz="850" dirty="0">
                <a:solidFill>
                  <a:srgbClr val="64748B"/>
                </a:solidFill>
                <a:latin typeface="Microsoft YaHei"/>
                <a:ea typeface="Microsoft YaHei"/>
              </a:rPr>
              <a:t>基于 Spring Boot 与 Next.js 的智能 Agent 平台设计与实现</a:t>
            </a:r>
            <a:endParaRPr lang="zh-CN"/>
          </a:p>
        </p:txBody>
      </p:sp>
      <p:sp>
        <p:nvSpPr>
          <p:cNvPr id="30" name="TextBox 30"/>
          <p:cNvSpPr txBox="1"/>
          <p:nvPr/>
        </p:nvSpPr>
        <p:spPr>
          <a:xfrm>
            <a:off x="11064240" y="6510528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pPr algn="r"/>
            <a:r>
              <a:rPr lang="zh-CN" sz="850" dirty="0">
                <a:solidFill>
                  <a:srgbClr val="64748B"/>
                </a:solidFill>
                <a:latin typeface="Microsoft YaHei"/>
                <a:ea typeface="Microsoft YaHei"/>
              </a:rPr>
              <a:t>04</a:t>
            </a:r>
            <a:endParaRPr lang="zh-C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/>
          <p:nvPr/>
        </p:nvSpPr>
        <p:spPr>
          <a:xfrm>
            <a:off x="0" y="0"/>
            <a:ext cx="12192000" cy="201168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502920" y="310896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r>
              <a:rPr lang="zh-CN" sz="2500" dirty="0">
                <a:solidFill>
                  <a:srgbClr val="111827"/>
                </a:solidFill>
                <a:latin typeface="Microsoft YaHei"/>
                <a:ea typeface="Microsoft YaHei"/>
              </a:rPr>
              <a:t>项目规模与技术选型</a:t>
            </a:r>
            <a:endParaRPr lang="zh-CN"/>
          </a:p>
        </p:txBody>
      </p:sp>
      <p:sp>
        <p:nvSpPr>
          <p:cNvPr id="13" name="TextBox 13"/>
          <p:cNvSpPr txBox="1"/>
          <p:nvPr/>
        </p:nvSpPr>
        <p:spPr>
          <a:xfrm>
            <a:off x="530352" y="768096"/>
            <a:ext cx="9144000" cy="215444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r>
              <a:rPr lang="zh-CN" sz="1400" dirty="0">
                <a:solidFill>
                  <a:srgbClr val="64748B"/>
                </a:solidFill>
                <a:latin typeface="Microsoft YaHei"/>
                <a:ea typeface="Microsoft YaHei"/>
              </a:rPr>
              <a:t>技术选择围绕可维护性、可扩展性和部署便利性展开</a:t>
            </a:r>
            <a:endParaRPr lang="zh-CN" sz="1400" dirty="0"/>
          </a:p>
        </p:txBody>
      </p:sp>
      <p:sp>
        <p:nvSpPr>
          <p:cNvPr id="14" name="TextBox 14"/>
          <p:cNvSpPr txBox="1"/>
          <p:nvPr/>
        </p:nvSpPr>
        <p:spPr>
          <a:xfrm>
            <a:off x="10195560" y="402336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pPr algn="r"/>
            <a:r>
              <a:rPr lang="zh-CN" sz="1100" dirty="0">
                <a:solidFill>
                  <a:srgbClr val="2563EB"/>
                </a:solidFill>
                <a:latin typeface="Microsoft YaHei"/>
                <a:ea typeface="Microsoft YaHei"/>
              </a:rPr>
              <a:t>AgentX</a:t>
            </a:r>
            <a:endParaRPr lang="zh-CN"/>
          </a:p>
        </p:txBody>
      </p:sp>
      <p:sp>
        <p:nvSpPr>
          <p:cNvPr id="15" name="TextBox 15"/>
          <p:cNvSpPr txBox="1"/>
          <p:nvPr/>
        </p:nvSpPr>
        <p:spPr>
          <a:xfrm>
            <a:off x="868680" y="1234440"/>
            <a:ext cx="1234440" cy="4114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txBody>
          <a:bodyPr wrap="square" lIns="91440" tIns="73152" rIns="91440" bIns="73152">
            <a:spAutoFit/>
          </a:bodyPr>
          <a:lstStyle/>
          <a:p>
            <a:pPr algn="ctr"/>
            <a:r>
              <a:rPr lang="zh-CN" sz="1400" dirty="0">
                <a:solidFill>
                  <a:srgbClr val="FFFFFF"/>
                </a:solidFill>
                <a:latin typeface="Microsoft YaHei"/>
                <a:ea typeface="Microsoft YaHei"/>
              </a:rPr>
              <a:t>后端</a:t>
            </a:r>
            <a:endParaRPr lang="zh-CN"/>
          </a:p>
        </p:txBody>
      </p:sp>
      <p:sp>
        <p:nvSpPr>
          <p:cNvPr id="16" name="TextBox 16"/>
          <p:cNvSpPr txBox="1"/>
          <p:nvPr/>
        </p:nvSpPr>
        <p:spPr>
          <a:xfrm>
            <a:off x="2331720" y="1234440"/>
            <a:ext cx="8595360" cy="41148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D8E2F0"/>
            </a:solidFill>
          </a:ln>
        </p:spPr>
        <p:txBody>
          <a:bodyPr wrap="square" lIns="91440" tIns="73152" rIns="91440" bIns="73152">
            <a:spAutoFit/>
          </a:bodyPr>
          <a:lstStyle/>
          <a:p>
            <a:r>
              <a:rPr lang="zh-CN" sz="1500" dirty="0">
                <a:solidFill>
                  <a:srgbClr val="111827"/>
                </a:solidFill>
                <a:latin typeface="Microsoft YaHei"/>
                <a:ea typeface="Microsoft YaHei"/>
              </a:rPr>
              <a:t>Spring Boot 3.2.3 / Java 17 / MyBatis-Plus</a:t>
            </a:r>
            <a:endParaRPr lang="zh-CN"/>
          </a:p>
        </p:txBody>
      </p:sp>
      <p:sp>
        <p:nvSpPr>
          <p:cNvPr id="17" name="TextBox 17"/>
          <p:cNvSpPr txBox="1"/>
          <p:nvPr/>
        </p:nvSpPr>
        <p:spPr>
          <a:xfrm>
            <a:off x="868680" y="1947672"/>
            <a:ext cx="1234440" cy="4114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txBody>
          <a:bodyPr wrap="square" lIns="91440" tIns="73152" rIns="91440" bIns="73152">
            <a:spAutoFit/>
          </a:bodyPr>
          <a:lstStyle/>
          <a:p>
            <a:pPr algn="ctr"/>
            <a:r>
              <a:rPr lang="zh-CN" sz="1400" dirty="0">
                <a:solidFill>
                  <a:srgbClr val="FFFFFF"/>
                </a:solidFill>
                <a:latin typeface="Microsoft YaHei"/>
                <a:ea typeface="Microsoft YaHei"/>
              </a:rPr>
              <a:t>前端</a:t>
            </a:r>
            <a:endParaRPr lang="zh-CN"/>
          </a:p>
        </p:txBody>
      </p:sp>
      <p:sp>
        <p:nvSpPr>
          <p:cNvPr id="18" name="TextBox 18"/>
          <p:cNvSpPr txBox="1"/>
          <p:nvPr/>
        </p:nvSpPr>
        <p:spPr>
          <a:xfrm>
            <a:off x="2331720" y="1947672"/>
            <a:ext cx="8595360" cy="41148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D8E2F0"/>
            </a:solidFill>
          </a:ln>
        </p:spPr>
        <p:txBody>
          <a:bodyPr wrap="square" lIns="91440" tIns="73152" rIns="91440" bIns="73152">
            <a:spAutoFit/>
          </a:bodyPr>
          <a:lstStyle/>
          <a:p>
            <a:r>
              <a:rPr lang="zh-CN" sz="1500" dirty="0">
                <a:solidFill>
                  <a:srgbClr val="111827"/>
                </a:solidFill>
                <a:latin typeface="Microsoft YaHei"/>
                <a:ea typeface="Microsoft YaHei"/>
              </a:rPr>
              <a:t>Next.js 15 / React 19 / TypeScript / Tailwind CSS</a:t>
            </a:r>
            <a:endParaRPr lang="zh-CN"/>
          </a:p>
        </p:txBody>
      </p:sp>
      <p:sp>
        <p:nvSpPr>
          <p:cNvPr id="19" name="TextBox 19"/>
          <p:cNvSpPr txBox="1"/>
          <p:nvPr/>
        </p:nvSpPr>
        <p:spPr>
          <a:xfrm>
            <a:off x="868680" y="2660904"/>
            <a:ext cx="1234440" cy="41148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txBody>
          <a:bodyPr wrap="square" lIns="91440" tIns="73152" rIns="91440" bIns="73152">
            <a:spAutoFit/>
          </a:bodyPr>
          <a:lstStyle/>
          <a:p>
            <a:pPr algn="ctr"/>
            <a:r>
              <a:rPr lang="zh-CN" sz="1400" dirty="0">
                <a:solidFill>
                  <a:srgbClr val="FFFFFF"/>
                </a:solidFill>
                <a:latin typeface="Microsoft YaHei"/>
                <a:ea typeface="Microsoft YaHei"/>
              </a:rPr>
              <a:t>数据</a:t>
            </a:r>
            <a:endParaRPr lang="zh-CN"/>
          </a:p>
        </p:txBody>
      </p:sp>
      <p:sp>
        <p:nvSpPr>
          <p:cNvPr id="20" name="TextBox 20"/>
          <p:cNvSpPr txBox="1"/>
          <p:nvPr/>
        </p:nvSpPr>
        <p:spPr>
          <a:xfrm>
            <a:off x="2331720" y="2660904"/>
            <a:ext cx="8595360" cy="41148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D8E2F0"/>
            </a:solidFill>
          </a:ln>
        </p:spPr>
        <p:txBody>
          <a:bodyPr wrap="square" lIns="91440" tIns="73152" rIns="91440" bIns="73152">
            <a:spAutoFit/>
          </a:bodyPr>
          <a:lstStyle/>
          <a:p>
            <a:r>
              <a:rPr lang="zh-CN" sz="1500" dirty="0">
                <a:solidFill>
                  <a:srgbClr val="111827"/>
                </a:solidFill>
                <a:latin typeface="Microsoft YaHei"/>
                <a:ea typeface="Microsoft YaHei"/>
              </a:rPr>
              <a:t>PostgreSQL + pgvector，支撑业务数据与向量检索</a:t>
            </a:r>
            <a:endParaRPr lang="zh-CN" dirty="0"/>
          </a:p>
        </p:txBody>
      </p:sp>
      <p:sp>
        <p:nvSpPr>
          <p:cNvPr id="21" name="TextBox 21"/>
          <p:cNvSpPr txBox="1"/>
          <p:nvPr/>
        </p:nvSpPr>
        <p:spPr>
          <a:xfrm>
            <a:off x="868680" y="3374136"/>
            <a:ext cx="1234440" cy="41148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txBody>
          <a:bodyPr wrap="square" lIns="91440" tIns="73152" rIns="91440" bIns="73152">
            <a:spAutoFit/>
          </a:bodyPr>
          <a:lstStyle/>
          <a:p>
            <a:pPr algn="ctr"/>
            <a:r>
              <a:rPr lang="zh-CN" sz="1400" dirty="0">
                <a:solidFill>
                  <a:srgbClr val="FFFFFF"/>
                </a:solidFill>
                <a:latin typeface="Microsoft YaHei"/>
                <a:ea typeface="Microsoft YaHei"/>
              </a:rPr>
              <a:t>消息</a:t>
            </a:r>
            <a:endParaRPr lang="zh-CN"/>
          </a:p>
        </p:txBody>
      </p:sp>
      <p:sp>
        <p:nvSpPr>
          <p:cNvPr id="22" name="TextBox 22"/>
          <p:cNvSpPr txBox="1"/>
          <p:nvPr/>
        </p:nvSpPr>
        <p:spPr>
          <a:xfrm>
            <a:off x="2331720" y="3374136"/>
            <a:ext cx="8595360" cy="41148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D8E2F0"/>
            </a:solidFill>
          </a:ln>
        </p:spPr>
        <p:txBody>
          <a:bodyPr wrap="square" lIns="91440" tIns="73152" rIns="91440" bIns="73152">
            <a:spAutoFit/>
          </a:bodyPr>
          <a:lstStyle/>
          <a:p>
            <a:r>
              <a:rPr lang="zh-CN" sz="1500" dirty="0">
                <a:solidFill>
                  <a:srgbClr val="111827"/>
                </a:solidFill>
                <a:latin typeface="Microsoft YaHei"/>
                <a:ea typeface="Microsoft YaHei"/>
              </a:rPr>
              <a:t>RabbitMQ，用于文档处理和异步流程</a:t>
            </a:r>
            <a:endParaRPr lang="zh-CN"/>
          </a:p>
        </p:txBody>
      </p:sp>
      <p:sp>
        <p:nvSpPr>
          <p:cNvPr id="23" name="TextBox 23"/>
          <p:cNvSpPr txBox="1"/>
          <p:nvPr/>
        </p:nvSpPr>
        <p:spPr>
          <a:xfrm>
            <a:off x="868680" y="4087368"/>
            <a:ext cx="1234440" cy="41148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txBody>
          <a:bodyPr wrap="square" lIns="91440" tIns="73152" rIns="91440" bIns="73152">
            <a:spAutoFit/>
          </a:bodyPr>
          <a:lstStyle/>
          <a:p>
            <a:pPr algn="ctr"/>
            <a:r>
              <a:rPr lang="zh-CN" sz="1400" dirty="0">
                <a:solidFill>
                  <a:srgbClr val="FFFFFF"/>
                </a:solidFill>
                <a:latin typeface="Microsoft YaHei"/>
                <a:ea typeface="Microsoft YaHei"/>
              </a:rPr>
              <a:t>部署</a:t>
            </a:r>
            <a:endParaRPr lang="zh-CN"/>
          </a:p>
        </p:txBody>
      </p:sp>
      <p:sp>
        <p:nvSpPr>
          <p:cNvPr id="24" name="TextBox 24"/>
          <p:cNvSpPr txBox="1"/>
          <p:nvPr/>
        </p:nvSpPr>
        <p:spPr>
          <a:xfrm>
            <a:off x="2331720" y="4087368"/>
            <a:ext cx="8595360" cy="41148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D8E2F0"/>
            </a:solidFill>
          </a:ln>
        </p:spPr>
        <p:txBody>
          <a:bodyPr wrap="square" lIns="91440" tIns="73152" rIns="91440" bIns="73152">
            <a:spAutoFit/>
          </a:bodyPr>
          <a:lstStyle/>
          <a:p>
            <a:r>
              <a:rPr lang="zh-CN" sz="1500" dirty="0">
                <a:solidFill>
                  <a:srgbClr val="111827"/>
                </a:solidFill>
                <a:latin typeface="Microsoft YaHei"/>
                <a:ea typeface="Microsoft YaHei"/>
              </a:rPr>
              <a:t>Docker Compose，统一编排前端、后端、数据库和消息队列</a:t>
            </a:r>
            <a:endParaRPr lang="zh-CN"/>
          </a:p>
        </p:txBody>
      </p:sp>
      <p:sp>
        <p:nvSpPr>
          <p:cNvPr id="29" name="Shape 29"/>
          <p:cNvSpPr/>
          <p:nvPr/>
        </p:nvSpPr>
        <p:spPr>
          <a:xfrm>
            <a:off x="1459850" y="5152645"/>
            <a:ext cx="4976392" cy="10425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2F0"/>
            </a:solidFill>
          </a:ln>
        </p:spPr>
      </p:sp>
      <p:sp>
        <p:nvSpPr>
          <p:cNvPr id="30" name="Shape 30"/>
          <p:cNvSpPr/>
          <p:nvPr/>
        </p:nvSpPr>
        <p:spPr>
          <a:xfrm>
            <a:off x="1459850" y="5152645"/>
            <a:ext cx="73152" cy="868680"/>
          </a:xfrm>
          <a:prstGeom prst="rect">
            <a:avLst/>
          </a:prstGeom>
          <a:solidFill>
            <a:srgbClr val="F97316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1661018" y="5262373"/>
            <a:ext cx="4617720" cy="184666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r>
              <a:rPr lang="zh-CN" sz="1200" dirty="0">
                <a:solidFill>
                  <a:srgbClr val="111827"/>
                </a:solidFill>
                <a:latin typeface="Microsoft YaHei"/>
                <a:ea typeface="Microsoft YaHei"/>
              </a:rPr>
              <a:t>工程结构</a:t>
            </a:r>
            <a:endParaRPr lang="zh-CN" sz="1200" dirty="0"/>
          </a:p>
        </p:txBody>
      </p:sp>
      <p:sp>
        <p:nvSpPr>
          <p:cNvPr id="32" name="TextBox 32"/>
          <p:cNvSpPr txBox="1"/>
          <p:nvPr/>
        </p:nvSpPr>
        <p:spPr>
          <a:xfrm>
            <a:off x="1661018" y="5655565"/>
            <a:ext cx="4617720" cy="369332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pPr marL="260000" indent="-150000">
              <a:buChar char="•"/>
            </a:pPr>
            <a:r>
              <a:rPr lang="zh-CN" sz="1200" dirty="0">
                <a:solidFill>
                  <a:srgbClr val="64748B"/>
                </a:solidFill>
                <a:latin typeface="Microsoft YaHei"/>
                <a:ea typeface="Microsoft YaHei"/>
              </a:rPr>
              <a:t>后端 application/domain/infrastructure/interfaces 分层，前端按 app/components/lib/types 组织</a:t>
            </a:r>
            <a:endParaRPr lang="zh-CN" sz="1200" dirty="0"/>
          </a:p>
        </p:txBody>
      </p:sp>
      <p:cxnSp>
        <p:nvCxnSpPr>
          <p:cNvPr id="33" name="Connector 33"/>
          <p:cNvCxnSpPr/>
          <p:nvPr/>
        </p:nvCxnSpPr>
        <p:spPr>
          <a:xfrm>
            <a:off x="502920" y="6473952"/>
            <a:ext cx="11155680" cy="1"/>
          </a:xfrm>
          <a:prstGeom prst="straightConnector1">
            <a:avLst/>
          </a:prstGeom>
          <a:ln w="9000">
            <a:solidFill>
              <a:srgbClr val="E2E8F0"/>
            </a:solidFill>
          </a:ln>
        </p:spPr>
      </p:cxnSp>
      <p:sp>
        <p:nvSpPr>
          <p:cNvPr id="34" name="TextBox 34"/>
          <p:cNvSpPr txBox="1"/>
          <p:nvPr/>
        </p:nvSpPr>
        <p:spPr>
          <a:xfrm>
            <a:off x="548640" y="6510528"/>
            <a:ext cx="530352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r>
              <a:rPr lang="zh-CN" sz="850" dirty="0">
                <a:solidFill>
                  <a:srgbClr val="64748B"/>
                </a:solidFill>
                <a:latin typeface="Microsoft YaHei"/>
                <a:ea typeface="Microsoft YaHei"/>
              </a:rPr>
              <a:t>基于 Spring Boot 与 Next.js 的智能 Agent 平台设计与实现</a:t>
            </a:r>
            <a:endParaRPr lang="zh-CN"/>
          </a:p>
        </p:txBody>
      </p:sp>
      <p:sp>
        <p:nvSpPr>
          <p:cNvPr id="35" name="TextBox 35"/>
          <p:cNvSpPr txBox="1"/>
          <p:nvPr/>
        </p:nvSpPr>
        <p:spPr>
          <a:xfrm>
            <a:off x="11064240" y="6510528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pPr algn="r"/>
            <a:r>
              <a:rPr lang="zh-CN" sz="850" dirty="0">
                <a:solidFill>
                  <a:srgbClr val="64748B"/>
                </a:solidFill>
                <a:latin typeface="Microsoft YaHei"/>
                <a:ea typeface="Microsoft YaHei"/>
              </a:rPr>
              <a:t>05</a:t>
            </a:r>
            <a:endParaRPr lang="zh-C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/>
          <p:nvPr/>
        </p:nvSpPr>
        <p:spPr>
          <a:xfrm>
            <a:off x="0" y="0"/>
            <a:ext cx="12192000" cy="201168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502920" y="310896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r>
              <a:rPr lang="zh-CN" sz="2500" dirty="0">
                <a:solidFill>
                  <a:srgbClr val="111827"/>
                </a:solidFill>
                <a:latin typeface="Microsoft YaHei"/>
                <a:ea typeface="Microsoft YaHei"/>
              </a:rPr>
              <a:t>系统总体架构</a:t>
            </a:r>
            <a:endParaRPr lang="zh-CN"/>
          </a:p>
        </p:txBody>
      </p:sp>
      <p:sp>
        <p:nvSpPr>
          <p:cNvPr id="13" name="TextBox 13"/>
          <p:cNvSpPr txBox="1"/>
          <p:nvPr/>
        </p:nvSpPr>
        <p:spPr>
          <a:xfrm>
            <a:off x="530352" y="768096"/>
            <a:ext cx="9144000" cy="215444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r>
              <a:rPr lang="zh-CN" sz="1400" dirty="0">
                <a:solidFill>
                  <a:srgbClr val="64748B"/>
                </a:solidFill>
                <a:latin typeface="Microsoft YaHei"/>
                <a:ea typeface="Microsoft YaHei"/>
              </a:rPr>
              <a:t>前后端分离 + 后端分层 + 基础设施适配</a:t>
            </a:r>
            <a:endParaRPr lang="zh-CN" sz="1400" dirty="0"/>
          </a:p>
        </p:txBody>
      </p:sp>
      <p:sp>
        <p:nvSpPr>
          <p:cNvPr id="14" name="TextBox 14"/>
          <p:cNvSpPr txBox="1"/>
          <p:nvPr/>
        </p:nvSpPr>
        <p:spPr>
          <a:xfrm>
            <a:off x="10195560" y="402336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pPr algn="r"/>
            <a:r>
              <a:rPr lang="zh-CN" sz="1100" dirty="0">
                <a:solidFill>
                  <a:srgbClr val="2563EB"/>
                </a:solidFill>
                <a:latin typeface="Microsoft YaHei"/>
                <a:ea typeface="Microsoft YaHei"/>
              </a:rPr>
              <a:t>AgentX</a:t>
            </a:r>
            <a:endParaRPr lang="zh-CN"/>
          </a:p>
        </p:txBody>
      </p:sp>
      <p:sp>
        <p:nvSpPr>
          <p:cNvPr id="15" name="TextBox 15"/>
          <p:cNvSpPr txBox="1"/>
          <p:nvPr/>
        </p:nvSpPr>
        <p:spPr>
          <a:xfrm>
            <a:off x="1234440" y="1234440"/>
            <a:ext cx="4251960" cy="685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563EB"/>
            </a:solidFill>
          </a:ln>
        </p:spPr>
        <p:txBody>
          <a:bodyPr wrap="square" lIns="91440" tIns="91440" rIns="91440" bIns="91440">
            <a:spAutoFit/>
          </a:bodyPr>
          <a:lstStyle/>
          <a:p>
            <a:pPr algn="ctr"/>
            <a:r>
              <a:rPr lang="zh-CN" sz="1250" dirty="0">
                <a:solidFill>
                  <a:srgbClr val="111827"/>
                </a:solidFill>
                <a:latin typeface="Microsoft YaHei"/>
                <a:ea typeface="Microsoft YaHei"/>
              </a:rPr>
              <a:t>浏览器 / Widget</a:t>
            </a:r>
            <a:endParaRPr lang="zh-CN"/>
          </a:p>
        </p:txBody>
      </p:sp>
      <p:sp>
        <p:nvSpPr>
          <p:cNvPr id="17" name="TextBox 17"/>
          <p:cNvSpPr txBox="1"/>
          <p:nvPr/>
        </p:nvSpPr>
        <p:spPr>
          <a:xfrm>
            <a:off x="6400800" y="1234440"/>
            <a:ext cx="4251960" cy="685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563EB"/>
            </a:solidFill>
          </a:ln>
        </p:spPr>
        <p:txBody>
          <a:bodyPr wrap="square" lIns="91440" tIns="91440" rIns="91440" bIns="91440">
            <a:spAutoFit/>
          </a:bodyPr>
          <a:lstStyle/>
          <a:p>
            <a:pPr algn="ctr"/>
            <a:r>
              <a:rPr lang="zh-CN" sz="1250" dirty="0">
                <a:solidFill>
                  <a:srgbClr val="111827"/>
                </a:solidFill>
                <a:latin typeface="Microsoft YaHei"/>
                <a:ea typeface="Microsoft YaHei"/>
              </a:rPr>
              <a:t>Next.js 前端页面与组件</a:t>
            </a:r>
            <a:endParaRPr lang="zh-CN"/>
          </a:p>
        </p:txBody>
      </p:sp>
      <p:sp>
        <p:nvSpPr>
          <p:cNvPr id="19" name="TextBox 19"/>
          <p:cNvSpPr txBox="1"/>
          <p:nvPr/>
        </p:nvSpPr>
        <p:spPr>
          <a:xfrm>
            <a:off x="1234440" y="2560320"/>
            <a:ext cx="4251960" cy="685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7C3AED"/>
            </a:solidFill>
          </a:ln>
        </p:spPr>
        <p:txBody>
          <a:bodyPr wrap="square" lIns="91440" tIns="91440" rIns="91440" bIns="91440">
            <a:spAutoFit/>
          </a:bodyPr>
          <a:lstStyle/>
          <a:p>
            <a:pPr algn="ctr"/>
            <a:r>
              <a:rPr lang="zh-CN" sz="1250" dirty="0">
                <a:solidFill>
                  <a:srgbClr val="111827"/>
                </a:solidFill>
                <a:latin typeface="Microsoft YaHei"/>
                <a:ea typeface="Microsoft YaHei"/>
              </a:rPr>
              <a:t>Spring Boot 接口层 Controller</a:t>
            </a:r>
            <a:endParaRPr lang="zh-CN"/>
          </a:p>
        </p:txBody>
      </p:sp>
      <p:sp>
        <p:nvSpPr>
          <p:cNvPr id="21" name="TextBox 21"/>
          <p:cNvSpPr txBox="1"/>
          <p:nvPr/>
        </p:nvSpPr>
        <p:spPr>
          <a:xfrm>
            <a:off x="6400800" y="2560320"/>
            <a:ext cx="4251960" cy="685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7C3AED"/>
            </a:solidFill>
          </a:ln>
        </p:spPr>
        <p:txBody>
          <a:bodyPr wrap="square" lIns="91440" tIns="91440" rIns="91440" bIns="91440">
            <a:spAutoFit/>
          </a:bodyPr>
          <a:lstStyle/>
          <a:p>
            <a:pPr algn="ctr"/>
            <a:r>
              <a:rPr lang="zh-CN" sz="1250" dirty="0">
                <a:solidFill>
                  <a:srgbClr val="111827"/>
                </a:solidFill>
                <a:latin typeface="Microsoft YaHei"/>
                <a:ea typeface="Microsoft YaHei"/>
              </a:rPr>
              <a:t>应用服务层 Application Service</a:t>
            </a:r>
            <a:endParaRPr lang="zh-CN"/>
          </a:p>
        </p:txBody>
      </p:sp>
      <p:sp>
        <p:nvSpPr>
          <p:cNvPr id="23" name="TextBox 23"/>
          <p:cNvSpPr txBox="1"/>
          <p:nvPr/>
        </p:nvSpPr>
        <p:spPr>
          <a:xfrm>
            <a:off x="1234440" y="3886200"/>
            <a:ext cx="4251960" cy="685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6A34A"/>
            </a:solidFill>
          </a:ln>
        </p:spPr>
        <p:txBody>
          <a:bodyPr wrap="square" lIns="91440" tIns="91440" rIns="91440" bIns="91440">
            <a:spAutoFit/>
          </a:bodyPr>
          <a:lstStyle/>
          <a:p>
            <a:pPr algn="ctr"/>
            <a:r>
              <a:rPr lang="zh-CN" sz="1250" dirty="0">
                <a:solidFill>
                  <a:srgbClr val="111827"/>
                </a:solidFill>
                <a:latin typeface="Microsoft YaHei"/>
                <a:ea typeface="Microsoft YaHei"/>
              </a:rPr>
              <a:t>领域层 Domain Service / Entity</a:t>
            </a:r>
            <a:endParaRPr lang="zh-CN"/>
          </a:p>
        </p:txBody>
      </p:sp>
      <p:sp>
        <p:nvSpPr>
          <p:cNvPr id="25" name="TextBox 25"/>
          <p:cNvSpPr txBox="1"/>
          <p:nvPr/>
        </p:nvSpPr>
        <p:spPr>
          <a:xfrm>
            <a:off x="6400800" y="3886200"/>
            <a:ext cx="4251960" cy="685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97316"/>
            </a:solidFill>
          </a:ln>
        </p:spPr>
        <p:txBody>
          <a:bodyPr wrap="square" lIns="91440" tIns="91440" rIns="91440" bIns="91440">
            <a:spAutoFit/>
          </a:bodyPr>
          <a:lstStyle/>
          <a:p>
            <a:pPr algn="ctr"/>
            <a:r>
              <a:rPr lang="zh-CN" sz="1250" dirty="0">
                <a:solidFill>
                  <a:srgbClr val="111827"/>
                </a:solidFill>
                <a:latin typeface="Microsoft YaHei"/>
                <a:ea typeface="Microsoft YaHei"/>
              </a:rPr>
              <a:t>基础设施层 DB / MQ / Docker / LLM / Payment</a:t>
            </a:r>
            <a:endParaRPr lang="zh-CN"/>
          </a:p>
        </p:txBody>
      </p:sp>
      <p:sp>
        <p:nvSpPr>
          <p:cNvPr id="26" name="TextBox 26"/>
          <p:cNvSpPr txBox="1"/>
          <p:nvPr/>
        </p:nvSpPr>
        <p:spPr>
          <a:xfrm>
            <a:off x="1005840" y="5440680"/>
            <a:ext cx="996696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r>
              <a:rPr lang="zh-CN" sz="1500" dirty="0">
                <a:solidFill>
                  <a:srgbClr val="64748B"/>
                </a:solidFill>
                <a:latin typeface="Microsoft YaHei"/>
                <a:ea typeface="Microsoft YaHei"/>
              </a:rPr>
              <a:t>架构目标：让业务规则、用例编排和外部资源适配解耦，降低后续扩展模型、工具和知识库能力的成本。</a:t>
            </a:r>
            <a:endParaRPr lang="zh-CN"/>
          </a:p>
        </p:txBody>
      </p:sp>
      <p:cxnSp>
        <p:nvCxnSpPr>
          <p:cNvPr id="27" name="Connector 27"/>
          <p:cNvCxnSpPr/>
          <p:nvPr/>
        </p:nvCxnSpPr>
        <p:spPr>
          <a:xfrm>
            <a:off x="502920" y="6473952"/>
            <a:ext cx="11155680" cy="1"/>
          </a:xfrm>
          <a:prstGeom prst="straightConnector1">
            <a:avLst/>
          </a:prstGeom>
          <a:ln w="9000">
            <a:solidFill>
              <a:srgbClr val="E2E8F0"/>
            </a:solidFill>
          </a:ln>
        </p:spPr>
      </p:cxnSp>
      <p:sp>
        <p:nvSpPr>
          <p:cNvPr id="28" name="TextBox 28"/>
          <p:cNvSpPr txBox="1"/>
          <p:nvPr/>
        </p:nvSpPr>
        <p:spPr>
          <a:xfrm>
            <a:off x="548640" y="6510528"/>
            <a:ext cx="530352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r>
              <a:rPr lang="zh-CN" sz="850" dirty="0">
                <a:solidFill>
                  <a:srgbClr val="64748B"/>
                </a:solidFill>
                <a:latin typeface="Microsoft YaHei"/>
                <a:ea typeface="Microsoft YaHei"/>
              </a:rPr>
              <a:t>基于 Spring Boot 与 Next.js 的智能 Agent 平台设计与实现</a:t>
            </a:r>
            <a:endParaRPr lang="zh-CN"/>
          </a:p>
        </p:txBody>
      </p:sp>
      <p:sp>
        <p:nvSpPr>
          <p:cNvPr id="29" name="TextBox 29"/>
          <p:cNvSpPr txBox="1"/>
          <p:nvPr/>
        </p:nvSpPr>
        <p:spPr>
          <a:xfrm>
            <a:off x="11064240" y="6510528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pPr algn="r"/>
            <a:r>
              <a:rPr lang="zh-CN" sz="850" dirty="0">
                <a:solidFill>
                  <a:srgbClr val="64748B"/>
                </a:solidFill>
                <a:latin typeface="Microsoft YaHei"/>
                <a:ea typeface="Microsoft YaHei"/>
              </a:rPr>
              <a:t>06</a:t>
            </a:r>
            <a:endParaRPr lang="zh-C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/>
          <p:nvPr/>
        </p:nvSpPr>
        <p:spPr>
          <a:xfrm>
            <a:off x="0" y="0"/>
            <a:ext cx="12192000" cy="201168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502920" y="310896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r>
              <a:rPr lang="zh-CN" sz="2500" dirty="0">
                <a:solidFill>
                  <a:srgbClr val="111827"/>
                </a:solidFill>
                <a:latin typeface="Microsoft YaHei"/>
                <a:ea typeface="Microsoft YaHei"/>
              </a:rPr>
              <a:t>后端分层设计</a:t>
            </a:r>
            <a:endParaRPr lang="zh-CN"/>
          </a:p>
        </p:txBody>
      </p:sp>
      <p:sp>
        <p:nvSpPr>
          <p:cNvPr id="13" name="TextBox 13"/>
          <p:cNvSpPr txBox="1"/>
          <p:nvPr/>
        </p:nvSpPr>
        <p:spPr>
          <a:xfrm>
            <a:off x="530352" y="768096"/>
            <a:ext cx="9144000" cy="215444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r>
              <a:rPr lang="zh-CN" sz="1400" dirty="0">
                <a:solidFill>
                  <a:srgbClr val="64748B"/>
                </a:solidFill>
                <a:latin typeface="Microsoft YaHei"/>
                <a:ea typeface="Microsoft YaHei"/>
              </a:rPr>
              <a:t>将 Controller、应用流程、领域规则和基础设施适配分开</a:t>
            </a:r>
            <a:endParaRPr lang="zh-CN" sz="1400" dirty="0"/>
          </a:p>
        </p:txBody>
      </p:sp>
      <p:sp>
        <p:nvSpPr>
          <p:cNvPr id="14" name="TextBox 14"/>
          <p:cNvSpPr txBox="1"/>
          <p:nvPr/>
        </p:nvSpPr>
        <p:spPr>
          <a:xfrm>
            <a:off x="10195560" y="402336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pPr algn="r"/>
            <a:r>
              <a:rPr lang="zh-CN" sz="1100" dirty="0">
                <a:solidFill>
                  <a:srgbClr val="2563EB"/>
                </a:solidFill>
                <a:latin typeface="Microsoft YaHei"/>
                <a:ea typeface="Microsoft YaHei"/>
              </a:rPr>
              <a:t>AgentX</a:t>
            </a:r>
            <a:endParaRPr lang="zh-CN"/>
          </a:p>
        </p:txBody>
      </p:sp>
      <p:sp>
        <p:nvSpPr>
          <p:cNvPr id="15" name="Shape 15"/>
          <p:cNvSpPr/>
          <p:nvPr/>
        </p:nvSpPr>
        <p:spPr>
          <a:xfrm>
            <a:off x="914400" y="1234440"/>
            <a:ext cx="2057400" cy="6400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960120" y="1344168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pPr algn="ctr"/>
            <a:r>
              <a:rPr lang="zh-CN" sz="1500" dirty="0">
                <a:solidFill>
                  <a:srgbClr val="FFFFFF"/>
                </a:solidFill>
                <a:latin typeface="Microsoft YaHei"/>
                <a:ea typeface="Microsoft YaHei"/>
              </a:rPr>
              <a:t>interfaces</a:t>
            </a:r>
            <a:endParaRPr lang="zh-CN"/>
          </a:p>
        </p:txBody>
      </p:sp>
      <p:sp>
        <p:nvSpPr>
          <p:cNvPr id="17" name="TextBox 17"/>
          <p:cNvSpPr txBox="1"/>
          <p:nvPr/>
        </p:nvSpPr>
        <p:spPr>
          <a:xfrm>
            <a:off x="3337560" y="1234440"/>
            <a:ext cx="7315200" cy="64008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D8E2F0"/>
            </a:solidFill>
          </a:ln>
        </p:spPr>
        <p:txBody>
          <a:bodyPr wrap="square" lIns="91440" tIns="91440" rIns="91440" bIns="91440">
            <a:spAutoFit/>
          </a:bodyPr>
          <a:lstStyle/>
          <a:p>
            <a:r>
              <a:rPr lang="zh-CN" sz="1600" dirty="0">
                <a:solidFill>
                  <a:srgbClr val="111827"/>
                </a:solidFill>
                <a:latin typeface="Microsoft YaHei"/>
                <a:ea typeface="Microsoft YaHei"/>
              </a:rPr>
              <a:t>接收请求、参数校验、统一响应</a:t>
            </a:r>
            <a:endParaRPr lang="zh-CN"/>
          </a:p>
        </p:txBody>
      </p:sp>
      <p:sp>
        <p:nvSpPr>
          <p:cNvPr id="18" name="Shape 18"/>
          <p:cNvSpPr/>
          <p:nvPr/>
        </p:nvSpPr>
        <p:spPr>
          <a:xfrm>
            <a:off x="914400" y="2286000"/>
            <a:ext cx="2057400" cy="64008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960120" y="2395728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pPr algn="ctr"/>
            <a:r>
              <a:rPr lang="zh-CN" sz="1500" dirty="0">
                <a:solidFill>
                  <a:srgbClr val="FFFFFF"/>
                </a:solidFill>
                <a:latin typeface="Microsoft YaHei"/>
                <a:ea typeface="Microsoft YaHei"/>
              </a:rPr>
              <a:t>application</a:t>
            </a:r>
            <a:endParaRPr lang="zh-CN"/>
          </a:p>
        </p:txBody>
      </p:sp>
      <p:sp>
        <p:nvSpPr>
          <p:cNvPr id="20" name="TextBox 20"/>
          <p:cNvSpPr txBox="1"/>
          <p:nvPr/>
        </p:nvSpPr>
        <p:spPr>
          <a:xfrm>
            <a:off x="3337560" y="2286000"/>
            <a:ext cx="7315200" cy="64008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D8E2F0"/>
            </a:solidFill>
          </a:ln>
        </p:spPr>
        <p:txBody>
          <a:bodyPr wrap="square" lIns="91440" tIns="91440" rIns="91440" bIns="91440">
            <a:spAutoFit/>
          </a:bodyPr>
          <a:lstStyle/>
          <a:p>
            <a:r>
              <a:rPr lang="zh-CN" sz="1600" dirty="0">
                <a:solidFill>
                  <a:srgbClr val="111827"/>
                </a:solidFill>
                <a:latin typeface="Microsoft YaHei"/>
                <a:ea typeface="Microsoft YaHei"/>
              </a:rPr>
              <a:t>编排业务用例：Agent、RAG、订单、任务</a:t>
            </a:r>
            <a:endParaRPr lang="zh-CN"/>
          </a:p>
        </p:txBody>
      </p:sp>
      <p:sp>
        <p:nvSpPr>
          <p:cNvPr id="21" name="Shape 21"/>
          <p:cNvSpPr/>
          <p:nvPr/>
        </p:nvSpPr>
        <p:spPr>
          <a:xfrm>
            <a:off x="914400" y="3337560"/>
            <a:ext cx="2057400" cy="64008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960120" y="3447288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pPr algn="ctr"/>
            <a:r>
              <a:rPr lang="zh-CN" sz="1500" dirty="0">
                <a:solidFill>
                  <a:srgbClr val="FFFFFF"/>
                </a:solidFill>
                <a:latin typeface="Microsoft YaHei"/>
                <a:ea typeface="Microsoft YaHei"/>
              </a:rPr>
              <a:t>domain</a:t>
            </a:r>
            <a:endParaRPr lang="zh-CN"/>
          </a:p>
        </p:txBody>
      </p:sp>
      <p:sp>
        <p:nvSpPr>
          <p:cNvPr id="23" name="TextBox 23"/>
          <p:cNvSpPr txBox="1"/>
          <p:nvPr/>
        </p:nvSpPr>
        <p:spPr>
          <a:xfrm>
            <a:off x="3337560" y="3337560"/>
            <a:ext cx="7315200" cy="64008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D8E2F0"/>
            </a:solidFill>
          </a:ln>
        </p:spPr>
        <p:txBody>
          <a:bodyPr wrap="square" lIns="91440" tIns="91440" rIns="91440" bIns="91440">
            <a:spAutoFit/>
          </a:bodyPr>
          <a:lstStyle/>
          <a:p>
            <a:r>
              <a:rPr lang="zh-CN" sz="1600" dirty="0">
                <a:solidFill>
                  <a:srgbClr val="111827"/>
                </a:solidFill>
                <a:latin typeface="Microsoft YaHei"/>
                <a:ea typeface="Microsoft YaHei"/>
              </a:rPr>
              <a:t>沉淀实体、领域服务、仓储接口</a:t>
            </a:r>
            <a:endParaRPr lang="zh-CN"/>
          </a:p>
        </p:txBody>
      </p:sp>
      <p:sp>
        <p:nvSpPr>
          <p:cNvPr id="24" name="Shape 24"/>
          <p:cNvSpPr/>
          <p:nvPr/>
        </p:nvSpPr>
        <p:spPr>
          <a:xfrm>
            <a:off x="914400" y="4389120"/>
            <a:ext cx="2057400" cy="64008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960120" y="4498848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pPr algn="ctr"/>
            <a:r>
              <a:rPr lang="zh-CN" sz="1500" dirty="0">
                <a:solidFill>
                  <a:srgbClr val="FFFFFF"/>
                </a:solidFill>
                <a:latin typeface="Microsoft YaHei"/>
                <a:ea typeface="Microsoft YaHei"/>
              </a:rPr>
              <a:t>infrastructure</a:t>
            </a:r>
            <a:endParaRPr lang="zh-CN"/>
          </a:p>
        </p:txBody>
      </p:sp>
      <p:sp>
        <p:nvSpPr>
          <p:cNvPr id="26" name="TextBox 26"/>
          <p:cNvSpPr txBox="1"/>
          <p:nvPr/>
        </p:nvSpPr>
        <p:spPr>
          <a:xfrm>
            <a:off x="3337560" y="4389120"/>
            <a:ext cx="7315200" cy="64008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D8E2F0"/>
            </a:solidFill>
          </a:ln>
        </p:spPr>
        <p:txBody>
          <a:bodyPr wrap="square" lIns="91440" tIns="91440" rIns="91440" bIns="91440">
            <a:spAutoFit/>
          </a:bodyPr>
          <a:lstStyle/>
          <a:p>
            <a:r>
              <a:rPr lang="zh-CN" sz="1600" dirty="0">
                <a:solidFill>
                  <a:srgbClr val="111827"/>
                </a:solidFill>
                <a:latin typeface="Microsoft YaHei"/>
                <a:ea typeface="Microsoft YaHei"/>
              </a:rPr>
              <a:t>适配数据库、LLM、Docker、支付、RabbitMQ</a:t>
            </a:r>
            <a:endParaRPr lang="zh-CN"/>
          </a:p>
        </p:txBody>
      </p:sp>
      <p:sp>
        <p:nvSpPr>
          <p:cNvPr id="27" name="Shape 27"/>
          <p:cNvSpPr/>
          <p:nvPr/>
        </p:nvSpPr>
        <p:spPr>
          <a:xfrm>
            <a:off x="914400" y="5532120"/>
            <a:ext cx="9738360" cy="640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2F0"/>
            </a:solidFill>
          </a:ln>
        </p:spPr>
      </p:sp>
      <p:sp>
        <p:nvSpPr>
          <p:cNvPr id="28" name="Shape 28"/>
          <p:cNvSpPr/>
          <p:nvPr/>
        </p:nvSpPr>
        <p:spPr>
          <a:xfrm>
            <a:off x="914400" y="5532120"/>
            <a:ext cx="73152" cy="640080"/>
          </a:xfrm>
          <a:prstGeom prst="rect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1115568" y="5641848"/>
            <a:ext cx="941832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r>
              <a:rPr lang="zh-CN" sz="1500" dirty="0">
                <a:solidFill>
                  <a:srgbClr val="111827"/>
                </a:solidFill>
                <a:latin typeface="Microsoft YaHei"/>
                <a:ea typeface="Microsoft YaHei"/>
              </a:rPr>
              <a:t>设计收益</a:t>
            </a:r>
            <a:endParaRPr lang="zh-CN"/>
          </a:p>
        </p:txBody>
      </p:sp>
      <p:sp>
        <p:nvSpPr>
          <p:cNvPr id="30" name="TextBox 30"/>
          <p:cNvSpPr txBox="1"/>
          <p:nvPr/>
        </p:nvSpPr>
        <p:spPr>
          <a:xfrm>
            <a:off x="1115568" y="6035040"/>
            <a:ext cx="9418320" cy="4572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pPr marL="260000" indent="-150000">
              <a:buChar char="•"/>
            </a:pPr>
            <a:r>
              <a:rPr lang="zh-CN" sz="1050" dirty="0">
                <a:solidFill>
                  <a:srgbClr val="64748B"/>
                </a:solidFill>
                <a:latin typeface="Microsoft YaHei"/>
                <a:ea typeface="Microsoft YaHei"/>
              </a:rPr>
              <a:t>避免接口层堆业务；便于 RAG、工具、支付、容器等模块独立演进。</a:t>
            </a:r>
            <a:endParaRPr lang="zh-CN"/>
          </a:p>
        </p:txBody>
      </p:sp>
      <p:cxnSp>
        <p:nvCxnSpPr>
          <p:cNvPr id="31" name="Connector 31"/>
          <p:cNvCxnSpPr/>
          <p:nvPr/>
        </p:nvCxnSpPr>
        <p:spPr>
          <a:xfrm>
            <a:off x="502920" y="6473952"/>
            <a:ext cx="11155680" cy="1"/>
          </a:xfrm>
          <a:prstGeom prst="straightConnector1">
            <a:avLst/>
          </a:prstGeom>
          <a:ln w="9000">
            <a:solidFill>
              <a:srgbClr val="E2E8F0"/>
            </a:solidFill>
          </a:ln>
        </p:spPr>
      </p:cxnSp>
      <p:sp>
        <p:nvSpPr>
          <p:cNvPr id="32" name="TextBox 32"/>
          <p:cNvSpPr txBox="1"/>
          <p:nvPr/>
        </p:nvSpPr>
        <p:spPr>
          <a:xfrm>
            <a:off x="548640" y="6510528"/>
            <a:ext cx="530352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r>
              <a:rPr lang="zh-CN" sz="850" dirty="0">
                <a:solidFill>
                  <a:srgbClr val="64748B"/>
                </a:solidFill>
                <a:latin typeface="Microsoft YaHei"/>
                <a:ea typeface="Microsoft YaHei"/>
              </a:rPr>
              <a:t>基于 Spring Boot 与 Next.js 的智能 Agent 平台设计与实现</a:t>
            </a:r>
            <a:endParaRPr lang="zh-CN"/>
          </a:p>
        </p:txBody>
      </p:sp>
      <p:sp>
        <p:nvSpPr>
          <p:cNvPr id="33" name="TextBox 33"/>
          <p:cNvSpPr txBox="1"/>
          <p:nvPr/>
        </p:nvSpPr>
        <p:spPr>
          <a:xfrm>
            <a:off x="11064240" y="6510528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pPr algn="r"/>
            <a:r>
              <a:rPr lang="zh-CN" sz="850" dirty="0">
                <a:solidFill>
                  <a:srgbClr val="64748B"/>
                </a:solidFill>
                <a:latin typeface="Microsoft YaHei"/>
                <a:ea typeface="Microsoft YaHei"/>
              </a:rPr>
              <a:t>07</a:t>
            </a:r>
            <a:endParaRPr lang="zh-C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/>
          <p:nvPr/>
        </p:nvSpPr>
        <p:spPr>
          <a:xfrm>
            <a:off x="0" y="0"/>
            <a:ext cx="12192000" cy="201168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502920" y="310896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r>
              <a:rPr lang="zh-CN" sz="2500" dirty="0">
                <a:solidFill>
                  <a:srgbClr val="111827"/>
                </a:solidFill>
                <a:latin typeface="Microsoft YaHei"/>
                <a:ea typeface="Microsoft YaHei"/>
              </a:rPr>
              <a:t>前端架构设计</a:t>
            </a:r>
            <a:endParaRPr lang="zh-CN"/>
          </a:p>
        </p:txBody>
      </p:sp>
      <p:sp>
        <p:nvSpPr>
          <p:cNvPr id="13" name="TextBox 13"/>
          <p:cNvSpPr txBox="1"/>
          <p:nvPr/>
        </p:nvSpPr>
        <p:spPr>
          <a:xfrm>
            <a:off x="530352" y="768096"/>
            <a:ext cx="9144000" cy="215444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r>
              <a:rPr lang="zh-CN" sz="1400" dirty="0">
                <a:solidFill>
                  <a:srgbClr val="64748B"/>
                </a:solidFill>
                <a:latin typeface="Microsoft YaHei"/>
                <a:ea typeface="Microsoft YaHei"/>
              </a:rPr>
              <a:t>页面路由、业务组件、接口服务与类型定义分层组织</a:t>
            </a:r>
            <a:endParaRPr lang="zh-CN" sz="1400" dirty="0"/>
          </a:p>
        </p:txBody>
      </p:sp>
      <p:sp>
        <p:nvSpPr>
          <p:cNvPr id="14" name="TextBox 14"/>
          <p:cNvSpPr txBox="1"/>
          <p:nvPr/>
        </p:nvSpPr>
        <p:spPr>
          <a:xfrm>
            <a:off x="10195560" y="402336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pPr algn="r"/>
            <a:r>
              <a:rPr lang="zh-CN" sz="1100" dirty="0">
                <a:solidFill>
                  <a:srgbClr val="2563EB"/>
                </a:solidFill>
                <a:latin typeface="Microsoft YaHei"/>
                <a:ea typeface="Microsoft YaHei"/>
              </a:rPr>
              <a:t>AgentX</a:t>
            </a:r>
            <a:endParaRPr lang="zh-CN"/>
          </a:p>
        </p:txBody>
      </p:sp>
      <p:sp>
        <p:nvSpPr>
          <p:cNvPr id="15" name="TextBox 15"/>
          <p:cNvSpPr txBox="1"/>
          <p:nvPr/>
        </p:nvSpPr>
        <p:spPr>
          <a:xfrm>
            <a:off x="914400" y="1188720"/>
            <a:ext cx="2286000" cy="457200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BFDBFE"/>
            </a:solidFill>
          </a:ln>
        </p:spPr>
        <p:txBody>
          <a:bodyPr wrap="square" lIns="91440" tIns="73152" rIns="91440" bIns="73152">
            <a:spAutoFit/>
          </a:bodyPr>
          <a:lstStyle/>
          <a:p>
            <a:r>
              <a:rPr lang="zh-CN" sz="1300" dirty="0">
                <a:solidFill>
                  <a:srgbClr val="2563EB"/>
                </a:solidFill>
                <a:latin typeface="Microsoft YaHei"/>
                <a:ea typeface="Microsoft YaHei"/>
              </a:rPr>
              <a:t>app/(auth)</a:t>
            </a:r>
            <a:endParaRPr lang="zh-CN"/>
          </a:p>
        </p:txBody>
      </p:sp>
      <p:sp>
        <p:nvSpPr>
          <p:cNvPr id="16" name="TextBox 16"/>
          <p:cNvSpPr txBox="1"/>
          <p:nvPr/>
        </p:nvSpPr>
        <p:spPr>
          <a:xfrm>
            <a:off x="3429000" y="1188720"/>
            <a:ext cx="7132320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2F0"/>
            </a:solidFill>
          </a:ln>
        </p:spPr>
        <p:txBody>
          <a:bodyPr wrap="square" lIns="91440" tIns="73152" rIns="91440" bIns="73152">
            <a:spAutoFit/>
          </a:bodyPr>
          <a:lstStyle/>
          <a:p>
            <a:r>
              <a:rPr lang="zh-CN" sz="1450" dirty="0">
                <a:solidFill>
                  <a:srgbClr val="111827"/>
                </a:solidFill>
                <a:latin typeface="Microsoft YaHei"/>
                <a:ea typeface="Microsoft YaHei"/>
              </a:rPr>
              <a:t>登录、注册、重置密码、SSO 回调</a:t>
            </a:r>
            <a:endParaRPr lang="zh-CN"/>
          </a:p>
        </p:txBody>
      </p:sp>
      <p:sp>
        <p:nvSpPr>
          <p:cNvPr id="17" name="TextBox 17"/>
          <p:cNvSpPr txBox="1"/>
          <p:nvPr/>
        </p:nvSpPr>
        <p:spPr>
          <a:xfrm>
            <a:off x="914400" y="1938528"/>
            <a:ext cx="2286000" cy="457200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BFDBFE"/>
            </a:solidFill>
          </a:ln>
        </p:spPr>
        <p:txBody>
          <a:bodyPr wrap="square" lIns="91440" tIns="73152" rIns="91440" bIns="73152">
            <a:spAutoFit/>
          </a:bodyPr>
          <a:lstStyle/>
          <a:p>
            <a:r>
              <a:rPr lang="zh-CN" sz="1300" dirty="0">
                <a:solidFill>
                  <a:srgbClr val="2563EB"/>
                </a:solidFill>
                <a:latin typeface="Microsoft YaHei"/>
                <a:ea typeface="Microsoft YaHei"/>
              </a:rPr>
              <a:t>app/(main)</a:t>
            </a:r>
            <a:endParaRPr lang="zh-CN"/>
          </a:p>
        </p:txBody>
      </p:sp>
      <p:sp>
        <p:nvSpPr>
          <p:cNvPr id="18" name="TextBox 18"/>
          <p:cNvSpPr txBox="1"/>
          <p:nvPr/>
        </p:nvSpPr>
        <p:spPr>
          <a:xfrm>
            <a:off x="3429000" y="1938528"/>
            <a:ext cx="7132320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2F0"/>
            </a:solidFill>
          </a:ln>
        </p:spPr>
        <p:txBody>
          <a:bodyPr wrap="square" lIns="91440" tIns="73152" rIns="91440" bIns="73152">
            <a:spAutoFit/>
          </a:bodyPr>
          <a:lstStyle/>
          <a:p>
            <a:r>
              <a:rPr lang="zh-CN" sz="1450" dirty="0">
                <a:solidFill>
                  <a:srgbClr val="111827"/>
                </a:solidFill>
                <a:latin typeface="Microsoft YaHei"/>
                <a:ea typeface="Microsoft YaHei"/>
              </a:rPr>
              <a:t>工作台、知识库、工具、设置、管理后台</a:t>
            </a:r>
            <a:endParaRPr lang="zh-CN"/>
          </a:p>
        </p:txBody>
      </p:sp>
      <p:sp>
        <p:nvSpPr>
          <p:cNvPr id="19" name="TextBox 19"/>
          <p:cNvSpPr txBox="1"/>
          <p:nvPr/>
        </p:nvSpPr>
        <p:spPr>
          <a:xfrm>
            <a:off x="914400" y="2688336"/>
            <a:ext cx="2286000" cy="457200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BFDBFE"/>
            </a:solidFill>
          </a:ln>
        </p:spPr>
        <p:txBody>
          <a:bodyPr wrap="square" lIns="91440" tIns="73152" rIns="91440" bIns="73152">
            <a:spAutoFit/>
          </a:bodyPr>
          <a:lstStyle/>
          <a:p>
            <a:r>
              <a:rPr lang="zh-CN" sz="1300" dirty="0">
                <a:solidFill>
                  <a:srgbClr val="2563EB"/>
                </a:solidFill>
                <a:latin typeface="Microsoft YaHei"/>
                <a:ea typeface="Microsoft YaHei"/>
              </a:rPr>
              <a:t>components</a:t>
            </a:r>
            <a:endParaRPr lang="zh-CN"/>
          </a:p>
        </p:txBody>
      </p:sp>
      <p:sp>
        <p:nvSpPr>
          <p:cNvPr id="20" name="TextBox 20"/>
          <p:cNvSpPr txBox="1"/>
          <p:nvPr/>
        </p:nvSpPr>
        <p:spPr>
          <a:xfrm>
            <a:off x="3429000" y="2688336"/>
            <a:ext cx="7132320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2F0"/>
            </a:solidFill>
          </a:ln>
        </p:spPr>
        <p:txBody>
          <a:bodyPr wrap="square" lIns="91440" tIns="73152" rIns="91440" bIns="73152">
            <a:spAutoFit/>
          </a:bodyPr>
          <a:lstStyle/>
          <a:p>
            <a:r>
              <a:rPr lang="zh-CN" sz="1450" dirty="0">
                <a:solidFill>
                  <a:srgbClr val="111827"/>
                </a:solidFill>
                <a:latin typeface="Microsoft YaHei"/>
                <a:ea typeface="Microsoft YaHei"/>
              </a:rPr>
              <a:t>业务组件与通用 UI 组件</a:t>
            </a:r>
            <a:endParaRPr lang="zh-CN"/>
          </a:p>
        </p:txBody>
      </p:sp>
      <p:sp>
        <p:nvSpPr>
          <p:cNvPr id="21" name="TextBox 21"/>
          <p:cNvSpPr txBox="1"/>
          <p:nvPr/>
        </p:nvSpPr>
        <p:spPr>
          <a:xfrm>
            <a:off x="914400" y="3438144"/>
            <a:ext cx="2286000" cy="457200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BFDBFE"/>
            </a:solidFill>
          </a:ln>
        </p:spPr>
        <p:txBody>
          <a:bodyPr wrap="square" lIns="91440" tIns="73152" rIns="91440" bIns="73152">
            <a:spAutoFit/>
          </a:bodyPr>
          <a:lstStyle/>
          <a:p>
            <a:r>
              <a:rPr lang="zh-CN" sz="1300" dirty="0">
                <a:solidFill>
                  <a:srgbClr val="2563EB"/>
                </a:solidFill>
                <a:latin typeface="Microsoft YaHei"/>
                <a:ea typeface="Microsoft YaHei"/>
              </a:rPr>
              <a:t>lib</a:t>
            </a:r>
            <a:endParaRPr lang="zh-CN"/>
          </a:p>
        </p:txBody>
      </p:sp>
      <p:sp>
        <p:nvSpPr>
          <p:cNvPr id="22" name="TextBox 22"/>
          <p:cNvSpPr txBox="1"/>
          <p:nvPr/>
        </p:nvSpPr>
        <p:spPr>
          <a:xfrm>
            <a:off x="3429000" y="3438144"/>
            <a:ext cx="7132320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2F0"/>
            </a:solidFill>
          </a:ln>
        </p:spPr>
        <p:txBody>
          <a:bodyPr wrap="square" lIns="91440" tIns="73152" rIns="91440" bIns="73152">
            <a:spAutoFit/>
          </a:bodyPr>
          <a:lstStyle/>
          <a:p>
            <a:r>
              <a:rPr lang="zh-CN" sz="1450" dirty="0">
                <a:solidFill>
                  <a:srgbClr val="111827"/>
                </a:solidFill>
                <a:latin typeface="Microsoft YaHei"/>
                <a:ea typeface="Microsoft YaHei"/>
              </a:rPr>
              <a:t>HTTP 客户端、API 配置、业务服务</a:t>
            </a:r>
            <a:endParaRPr lang="zh-CN"/>
          </a:p>
        </p:txBody>
      </p:sp>
      <p:sp>
        <p:nvSpPr>
          <p:cNvPr id="23" name="TextBox 23"/>
          <p:cNvSpPr txBox="1"/>
          <p:nvPr/>
        </p:nvSpPr>
        <p:spPr>
          <a:xfrm>
            <a:off x="914400" y="4187952"/>
            <a:ext cx="2286000" cy="457200"/>
          </a:xfrm>
          <a:prstGeom prst="roundRect">
            <a:avLst/>
          </a:prstGeom>
          <a:solidFill>
            <a:srgbClr val="EFF6FF"/>
          </a:solidFill>
          <a:ln w="9525">
            <a:solidFill>
              <a:srgbClr val="BFDBFE"/>
            </a:solidFill>
          </a:ln>
        </p:spPr>
        <p:txBody>
          <a:bodyPr wrap="square" lIns="91440" tIns="73152" rIns="91440" bIns="73152">
            <a:spAutoFit/>
          </a:bodyPr>
          <a:lstStyle/>
          <a:p>
            <a:r>
              <a:rPr lang="zh-CN" sz="1300" dirty="0">
                <a:solidFill>
                  <a:srgbClr val="2563EB"/>
                </a:solidFill>
                <a:latin typeface="Microsoft YaHei"/>
                <a:ea typeface="Microsoft YaHei"/>
              </a:rPr>
              <a:t>types / hooks</a:t>
            </a:r>
            <a:endParaRPr lang="zh-CN"/>
          </a:p>
        </p:txBody>
      </p:sp>
      <p:sp>
        <p:nvSpPr>
          <p:cNvPr id="24" name="TextBox 24"/>
          <p:cNvSpPr txBox="1"/>
          <p:nvPr/>
        </p:nvSpPr>
        <p:spPr>
          <a:xfrm>
            <a:off x="3429000" y="4187952"/>
            <a:ext cx="7132320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2F0"/>
            </a:solidFill>
          </a:ln>
        </p:spPr>
        <p:txBody>
          <a:bodyPr wrap="square" lIns="91440" tIns="73152" rIns="91440" bIns="73152">
            <a:spAutoFit/>
          </a:bodyPr>
          <a:lstStyle/>
          <a:p>
            <a:r>
              <a:rPr lang="zh-CN" sz="1450" dirty="0">
                <a:solidFill>
                  <a:srgbClr val="111827"/>
                </a:solidFill>
                <a:latin typeface="Microsoft YaHei"/>
                <a:ea typeface="Microsoft YaHei"/>
              </a:rPr>
              <a:t>接口类型与可复用交互逻辑</a:t>
            </a:r>
            <a:endParaRPr lang="zh-CN"/>
          </a:p>
        </p:txBody>
      </p:sp>
      <p:sp>
        <p:nvSpPr>
          <p:cNvPr id="25" name="TextBox 25"/>
          <p:cNvSpPr txBox="1"/>
          <p:nvPr/>
        </p:nvSpPr>
        <p:spPr>
          <a:xfrm>
            <a:off x="914400" y="5440680"/>
            <a:ext cx="987552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r>
              <a:rPr lang="zh-CN" sz="1500" dirty="0">
                <a:solidFill>
                  <a:srgbClr val="64748B"/>
                </a:solidFill>
                <a:latin typeface="Microsoft YaHei"/>
                <a:ea typeface="Microsoft YaHei"/>
              </a:rPr>
              <a:t>前端强调：常用工作流直接可用，复杂功能通过组件和服务封装，避免页面代码过度膨胀。</a:t>
            </a:r>
            <a:endParaRPr lang="zh-CN"/>
          </a:p>
        </p:txBody>
      </p:sp>
      <p:cxnSp>
        <p:nvCxnSpPr>
          <p:cNvPr id="26" name="Connector 26"/>
          <p:cNvCxnSpPr/>
          <p:nvPr/>
        </p:nvCxnSpPr>
        <p:spPr>
          <a:xfrm>
            <a:off x="502920" y="6473952"/>
            <a:ext cx="11155680" cy="1"/>
          </a:xfrm>
          <a:prstGeom prst="straightConnector1">
            <a:avLst/>
          </a:prstGeom>
          <a:ln w="9000">
            <a:solidFill>
              <a:srgbClr val="E2E8F0"/>
            </a:solidFill>
          </a:ln>
        </p:spPr>
      </p:cxnSp>
      <p:sp>
        <p:nvSpPr>
          <p:cNvPr id="27" name="TextBox 27"/>
          <p:cNvSpPr txBox="1"/>
          <p:nvPr/>
        </p:nvSpPr>
        <p:spPr>
          <a:xfrm>
            <a:off x="548640" y="6510528"/>
            <a:ext cx="530352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r>
              <a:rPr lang="zh-CN" sz="850" dirty="0">
                <a:solidFill>
                  <a:srgbClr val="64748B"/>
                </a:solidFill>
                <a:latin typeface="Microsoft YaHei"/>
                <a:ea typeface="Microsoft YaHei"/>
              </a:rPr>
              <a:t>基于 Spring Boot 与 Next.js 的智能 Agent 平台设计与实现</a:t>
            </a:r>
            <a:endParaRPr lang="zh-CN"/>
          </a:p>
        </p:txBody>
      </p:sp>
      <p:sp>
        <p:nvSpPr>
          <p:cNvPr id="28" name="TextBox 28"/>
          <p:cNvSpPr txBox="1"/>
          <p:nvPr/>
        </p:nvSpPr>
        <p:spPr>
          <a:xfrm>
            <a:off x="11064240" y="6510528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pPr algn="r"/>
            <a:r>
              <a:rPr lang="zh-CN" sz="850" dirty="0">
                <a:solidFill>
                  <a:srgbClr val="64748B"/>
                </a:solidFill>
                <a:latin typeface="Microsoft YaHei"/>
                <a:ea typeface="Microsoft YaHei"/>
              </a:rPr>
              <a:t>08</a:t>
            </a:r>
            <a:endParaRPr lang="zh-C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/>
          <p:nvPr/>
        </p:nvSpPr>
        <p:spPr>
          <a:xfrm>
            <a:off x="0" y="0"/>
            <a:ext cx="12192000" cy="201168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502920" y="310896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r>
              <a:rPr lang="zh-CN" sz="2500" dirty="0">
                <a:solidFill>
                  <a:srgbClr val="111827"/>
                </a:solidFill>
                <a:latin typeface="Microsoft YaHei"/>
                <a:ea typeface="Microsoft YaHei"/>
              </a:rPr>
              <a:t>Agent 会话流程</a:t>
            </a:r>
            <a:endParaRPr lang="zh-CN"/>
          </a:p>
        </p:txBody>
      </p:sp>
      <p:sp>
        <p:nvSpPr>
          <p:cNvPr id="13" name="TextBox 13"/>
          <p:cNvSpPr txBox="1"/>
          <p:nvPr/>
        </p:nvSpPr>
        <p:spPr>
          <a:xfrm>
            <a:off x="530352" y="768096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r>
              <a:rPr lang="zh-CN" sz="1150" dirty="0">
                <a:solidFill>
                  <a:srgbClr val="64748B"/>
                </a:solidFill>
                <a:latin typeface="Microsoft YaHei"/>
                <a:ea typeface="Microsoft YaHei"/>
              </a:rPr>
              <a:t>用户只看到一次提问，后端实际完成配置加载、上下文组织、模型调用和消息持久化</a:t>
            </a:r>
            <a:endParaRPr lang="zh-CN" dirty="0"/>
          </a:p>
        </p:txBody>
      </p:sp>
      <p:sp>
        <p:nvSpPr>
          <p:cNvPr id="14" name="TextBox 14"/>
          <p:cNvSpPr txBox="1"/>
          <p:nvPr/>
        </p:nvSpPr>
        <p:spPr>
          <a:xfrm>
            <a:off x="10195560" y="402336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pPr algn="r"/>
            <a:r>
              <a:rPr lang="zh-CN" sz="1100" dirty="0">
                <a:solidFill>
                  <a:srgbClr val="2563EB"/>
                </a:solidFill>
                <a:latin typeface="Microsoft YaHei"/>
                <a:ea typeface="Microsoft YaHei"/>
              </a:rPr>
              <a:t>AgentX</a:t>
            </a:r>
            <a:endParaRPr lang="zh-CN"/>
          </a:p>
        </p:txBody>
      </p:sp>
      <p:sp>
        <p:nvSpPr>
          <p:cNvPr id="15" name="TextBox 15"/>
          <p:cNvSpPr txBox="1"/>
          <p:nvPr/>
        </p:nvSpPr>
        <p:spPr>
          <a:xfrm>
            <a:off x="594360" y="1828800"/>
            <a:ext cx="141732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563EB"/>
            </a:solidFill>
          </a:ln>
        </p:spPr>
        <p:txBody>
          <a:bodyPr wrap="square" lIns="91440" tIns="91440" rIns="91440" bIns="91440">
            <a:spAutoFit/>
          </a:bodyPr>
          <a:lstStyle/>
          <a:p>
            <a:pPr algn="ctr"/>
            <a:r>
              <a:rPr lang="zh-CN" sz="1250" dirty="0">
                <a:solidFill>
                  <a:srgbClr val="111827"/>
                </a:solidFill>
                <a:latin typeface="Microsoft YaHei"/>
                <a:ea typeface="Microsoft YaHei"/>
              </a:rPr>
              <a:t>选择 Agent</a:t>
            </a:r>
            <a:endParaRPr lang="zh-CN"/>
          </a:p>
        </p:txBody>
      </p:sp>
      <p:sp>
        <p:nvSpPr>
          <p:cNvPr id="17" name="TextBox 17"/>
          <p:cNvSpPr txBox="1"/>
          <p:nvPr/>
        </p:nvSpPr>
        <p:spPr>
          <a:xfrm>
            <a:off x="2468879" y="1828800"/>
            <a:ext cx="141732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563EB"/>
            </a:solidFill>
          </a:ln>
        </p:spPr>
        <p:txBody>
          <a:bodyPr wrap="square" lIns="91440" tIns="91440" rIns="91440" bIns="91440">
            <a:spAutoFit/>
          </a:bodyPr>
          <a:lstStyle/>
          <a:p>
            <a:pPr algn="ctr"/>
            <a:r>
              <a:rPr lang="zh-CN" sz="1250" dirty="0">
                <a:solidFill>
                  <a:srgbClr val="111827"/>
                </a:solidFill>
                <a:latin typeface="Microsoft YaHei"/>
                <a:ea typeface="Microsoft YaHei"/>
              </a:rPr>
              <a:t>创建会话</a:t>
            </a:r>
            <a:endParaRPr lang="zh-CN"/>
          </a:p>
        </p:txBody>
      </p:sp>
      <p:sp>
        <p:nvSpPr>
          <p:cNvPr id="19" name="TextBox 19"/>
          <p:cNvSpPr txBox="1"/>
          <p:nvPr/>
        </p:nvSpPr>
        <p:spPr>
          <a:xfrm>
            <a:off x="4343400" y="1828800"/>
            <a:ext cx="141732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7C3AED"/>
            </a:solidFill>
          </a:ln>
        </p:spPr>
        <p:txBody>
          <a:bodyPr wrap="square" lIns="91440" tIns="91440" rIns="91440" bIns="91440">
            <a:spAutoFit/>
          </a:bodyPr>
          <a:lstStyle/>
          <a:p>
            <a:pPr algn="ctr"/>
            <a:r>
              <a:rPr lang="zh-CN" sz="1250" dirty="0">
                <a:solidFill>
                  <a:srgbClr val="111827"/>
                </a:solidFill>
                <a:latin typeface="Microsoft YaHei"/>
                <a:ea typeface="Microsoft YaHei"/>
              </a:rPr>
              <a:t>输入问题</a:t>
            </a:r>
            <a:endParaRPr lang="zh-CN"/>
          </a:p>
        </p:txBody>
      </p:sp>
      <p:sp>
        <p:nvSpPr>
          <p:cNvPr id="21" name="TextBox 21"/>
          <p:cNvSpPr txBox="1"/>
          <p:nvPr/>
        </p:nvSpPr>
        <p:spPr>
          <a:xfrm>
            <a:off x="6217920" y="1828800"/>
            <a:ext cx="141732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7C3AED"/>
            </a:solidFill>
          </a:ln>
        </p:spPr>
        <p:txBody>
          <a:bodyPr wrap="square" lIns="91440" tIns="91440" rIns="91440" bIns="91440">
            <a:spAutoFit/>
          </a:bodyPr>
          <a:lstStyle/>
          <a:p>
            <a:pPr algn="ctr"/>
            <a:r>
              <a:rPr lang="zh-CN" sz="1250" dirty="0">
                <a:solidFill>
                  <a:srgbClr val="111827"/>
                </a:solidFill>
                <a:latin typeface="Microsoft YaHei"/>
                <a:ea typeface="Microsoft YaHei"/>
              </a:rPr>
              <a:t>加载模型/工具/知识库</a:t>
            </a:r>
            <a:endParaRPr lang="zh-CN"/>
          </a:p>
        </p:txBody>
      </p:sp>
      <p:sp>
        <p:nvSpPr>
          <p:cNvPr id="23" name="TextBox 23"/>
          <p:cNvSpPr txBox="1"/>
          <p:nvPr/>
        </p:nvSpPr>
        <p:spPr>
          <a:xfrm>
            <a:off x="8092440" y="1828800"/>
            <a:ext cx="141732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6A34A"/>
            </a:solidFill>
          </a:ln>
        </p:spPr>
        <p:txBody>
          <a:bodyPr wrap="square" lIns="91440" tIns="91440" rIns="91440" bIns="91440">
            <a:spAutoFit/>
          </a:bodyPr>
          <a:lstStyle/>
          <a:p>
            <a:pPr algn="ctr"/>
            <a:r>
              <a:rPr lang="zh-CN" sz="1250" dirty="0">
                <a:solidFill>
                  <a:srgbClr val="111827"/>
                </a:solidFill>
                <a:latin typeface="Microsoft YaHei"/>
                <a:ea typeface="Microsoft YaHei"/>
              </a:rPr>
              <a:t>LLM / 工具调用</a:t>
            </a:r>
            <a:endParaRPr lang="zh-CN"/>
          </a:p>
        </p:txBody>
      </p:sp>
      <p:sp>
        <p:nvSpPr>
          <p:cNvPr id="25" name="TextBox 25"/>
          <p:cNvSpPr txBox="1"/>
          <p:nvPr/>
        </p:nvSpPr>
        <p:spPr>
          <a:xfrm>
            <a:off x="9966960" y="1828800"/>
            <a:ext cx="141732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97316"/>
            </a:solidFill>
          </a:ln>
        </p:spPr>
        <p:txBody>
          <a:bodyPr wrap="square" lIns="91440" tIns="91440" rIns="91440" bIns="91440">
            <a:spAutoFit/>
          </a:bodyPr>
          <a:lstStyle/>
          <a:p>
            <a:pPr algn="ctr"/>
            <a:r>
              <a:rPr lang="zh-CN" sz="1250" dirty="0">
                <a:solidFill>
                  <a:srgbClr val="111827"/>
                </a:solidFill>
                <a:latin typeface="Microsoft YaHei"/>
                <a:ea typeface="Microsoft YaHei"/>
              </a:rPr>
              <a:t>流式返回并保存</a:t>
            </a:r>
            <a:endParaRPr lang="zh-CN"/>
          </a:p>
        </p:txBody>
      </p:sp>
      <p:sp>
        <p:nvSpPr>
          <p:cNvPr id="26" name="Shape 26"/>
          <p:cNvSpPr/>
          <p:nvPr/>
        </p:nvSpPr>
        <p:spPr>
          <a:xfrm>
            <a:off x="1005840" y="3703320"/>
            <a:ext cx="4754880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2F0"/>
            </a:solidFill>
          </a:ln>
        </p:spPr>
      </p:sp>
      <p:sp>
        <p:nvSpPr>
          <p:cNvPr id="27" name="Shape 27"/>
          <p:cNvSpPr/>
          <p:nvPr/>
        </p:nvSpPr>
        <p:spPr>
          <a:xfrm>
            <a:off x="1005840" y="3703320"/>
            <a:ext cx="73152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1207008" y="3813048"/>
            <a:ext cx="443484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r>
              <a:rPr lang="zh-CN" sz="1500" dirty="0">
                <a:solidFill>
                  <a:srgbClr val="111827"/>
                </a:solidFill>
                <a:latin typeface="Microsoft YaHei"/>
                <a:ea typeface="Microsoft YaHei"/>
              </a:rPr>
              <a:t>关键设计点</a:t>
            </a:r>
            <a:endParaRPr lang="zh-CN"/>
          </a:p>
        </p:txBody>
      </p:sp>
      <p:sp>
        <p:nvSpPr>
          <p:cNvPr id="29" name="TextBox 29"/>
          <p:cNvSpPr txBox="1"/>
          <p:nvPr/>
        </p:nvSpPr>
        <p:spPr>
          <a:xfrm>
            <a:off x="1207008" y="4206240"/>
            <a:ext cx="4434840" cy="646331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pPr marL="260000" indent="-150000">
              <a:buChar char="•"/>
            </a:pPr>
            <a:r>
              <a:rPr lang="zh-CN" sz="1400" dirty="0">
                <a:solidFill>
                  <a:srgbClr val="64748B"/>
                </a:solidFill>
                <a:latin typeface="Microsoft YaHei"/>
                <a:ea typeface="Microsoft YaHei"/>
              </a:rPr>
              <a:t>会话与消息持久化</a:t>
            </a:r>
            <a:endParaRPr lang="zh-CN" sz="1400" dirty="0"/>
          </a:p>
          <a:p>
            <a:pPr marL="260000" indent="-150000">
              <a:buChar char="•"/>
            </a:pPr>
            <a:r>
              <a:rPr lang="zh-CN" sz="1400" dirty="0">
                <a:solidFill>
                  <a:srgbClr val="64748B"/>
                </a:solidFill>
                <a:latin typeface="Microsoft YaHei"/>
                <a:ea typeface="Microsoft YaHei"/>
              </a:rPr>
              <a:t>流式传输提升交互体验</a:t>
            </a:r>
            <a:endParaRPr lang="zh-CN" sz="1400" dirty="0"/>
          </a:p>
          <a:p>
            <a:pPr marL="260000" indent="-150000">
              <a:buChar char="•"/>
            </a:pPr>
            <a:r>
              <a:rPr lang="zh-CN" sz="1400" dirty="0">
                <a:solidFill>
                  <a:srgbClr val="64748B"/>
                </a:solidFill>
                <a:latin typeface="Microsoft YaHei"/>
                <a:ea typeface="Microsoft YaHei"/>
              </a:rPr>
              <a:t>工具和知识库作为 Agent 上下文能力</a:t>
            </a:r>
            <a:endParaRPr lang="zh-CN" sz="1400" dirty="0"/>
          </a:p>
        </p:txBody>
      </p:sp>
      <p:sp>
        <p:nvSpPr>
          <p:cNvPr id="30" name="Shape 30"/>
          <p:cNvSpPr/>
          <p:nvPr/>
        </p:nvSpPr>
        <p:spPr>
          <a:xfrm>
            <a:off x="6126480" y="3703320"/>
            <a:ext cx="4754880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2F0"/>
            </a:solidFill>
          </a:ln>
        </p:spPr>
      </p:sp>
      <p:sp>
        <p:nvSpPr>
          <p:cNvPr id="31" name="Shape 31"/>
          <p:cNvSpPr/>
          <p:nvPr/>
        </p:nvSpPr>
        <p:spPr>
          <a:xfrm>
            <a:off x="6126480" y="3703320"/>
            <a:ext cx="73152" cy="1371600"/>
          </a:xfrm>
          <a:prstGeom prst="rect">
            <a:avLst/>
          </a:prstGeom>
          <a:solidFill>
            <a:srgbClr val="F97316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6327648" y="3813048"/>
            <a:ext cx="443484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r>
              <a:rPr lang="zh-CN" sz="1500" dirty="0">
                <a:solidFill>
                  <a:srgbClr val="111827"/>
                </a:solidFill>
                <a:latin typeface="Microsoft YaHei"/>
                <a:ea typeface="Microsoft YaHei"/>
              </a:rPr>
              <a:t>工程难点</a:t>
            </a:r>
            <a:endParaRPr lang="zh-CN"/>
          </a:p>
        </p:txBody>
      </p:sp>
      <p:sp>
        <p:nvSpPr>
          <p:cNvPr id="33" name="TextBox 33"/>
          <p:cNvSpPr txBox="1"/>
          <p:nvPr/>
        </p:nvSpPr>
        <p:spPr>
          <a:xfrm>
            <a:off x="6327648" y="4206240"/>
            <a:ext cx="4434840" cy="646331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pPr marL="260000" indent="-150000">
              <a:buChar char="•"/>
            </a:pPr>
            <a:r>
              <a:rPr lang="zh-CN" sz="1400" dirty="0">
                <a:solidFill>
                  <a:srgbClr val="64748B"/>
                </a:solidFill>
                <a:latin typeface="Microsoft YaHei"/>
                <a:ea typeface="Microsoft YaHei"/>
              </a:rPr>
              <a:t>实时输出与状态一致性</a:t>
            </a:r>
            <a:endParaRPr lang="zh-CN" sz="1400" dirty="0"/>
          </a:p>
          <a:p>
            <a:pPr marL="260000" indent="-150000">
              <a:buChar char="•"/>
            </a:pPr>
            <a:r>
              <a:rPr lang="zh-CN" sz="1400" dirty="0">
                <a:solidFill>
                  <a:srgbClr val="64748B"/>
                </a:solidFill>
                <a:latin typeface="Microsoft YaHei"/>
                <a:ea typeface="Microsoft YaHei"/>
              </a:rPr>
              <a:t>多轮对话上下文控制</a:t>
            </a:r>
            <a:endParaRPr lang="zh-CN" sz="1400" dirty="0"/>
          </a:p>
          <a:p>
            <a:pPr marL="260000" indent="-150000">
              <a:buChar char="•"/>
            </a:pPr>
            <a:r>
              <a:rPr lang="zh-CN" sz="1400" dirty="0">
                <a:solidFill>
                  <a:srgbClr val="64748B"/>
                </a:solidFill>
                <a:latin typeface="Microsoft YaHei"/>
                <a:ea typeface="Microsoft YaHei"/>
              </a:rPr>
              <a:t>模型、工具、知识检索的编排顺序</a:t>
            </a:r>
            <a:endParaRPr lang="zh-CN" sz="1400" dirty="0"/>
          </a:p>
        </p:txBody>
      </p:sp>
      <p:cxnSp>
        <p:nvCxnSpPr>
          <p:cNvPr id="34" name="Connector 34"/>
          <p:cNvCxnSpPr/>
          <p:nvPr/>
        </p:nvCxnSpPr>
        <p:spPr>
          <a:xfrm>
            <a:off x="502920" y="6473952"/>
            <a:ext cx="11155680" cy="1"/>
          </a:xfrm>
          <a:prstGeom prst="straightConnector1">
            <a:avLst/>
          </a:prstGeom>
          <a:ln w="9000">
            <a:solidFill>
              <a:srgbClr val="E2E8F0"/>
            </a:solidFill>
          </a:ln>
        </p:spPr>
      </p:cxnSp>
      <p:sp>
        <p:nvSpPr>
          <p:cNvPr id="35" name="TextBox 35"/>
          <p:cNvSpPr txBox="1"/>
          <p:nvPr/>
        </p:nvSpPr>
        <p:spPr>
          <a:xfrm>
            <a:off x="548640" y="6510528"/>
            <a:ext cx="530352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r>
              <a:rPr lang="zh-CN" sz="850" dirty="0">
                <a:solidFill>
                  <a:srgbClr val="64748B"/>
                </a:solidFill>
                <a:latin typeface="Microsoft YaHei"/>
                <a:ea typeface="Microsoft YaHei"/>
              </a:rPr>
              <a:t>基于 Spring Boot 与 Next.js 的智能 Agent 平台设计与实现</a:t>
            </a:r>
            <a:endParaRPr lang="zh-CN"/>
          </a:p>
        </p:txBody>
      </p:sp>
      <p:sp>
        <p:nvSpPr>
          <p:cNvPr id="36" name="TextBox 36"/>
          <p:cNvSpPr txBox="1"/>
          <p:nvPr/>
        </p:nvSpPr>
        <p:spPr>
          <a:xfrm>
            <a:off x="11064240" y="6510528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pPr algn="r"/>
            <a:r>
              <a:rPr lang="zh-CN" sz="850" dirty="0">
                <a:solidFill>
                  <a:srgbClr val="64748B"/>
                </a:solidFill>
                <a:latin typeface="Microsoft YaHei"/>
                <a:ea typeface="Microsoft YaHei"/>
              </a:rPr>
              <a:t>09</a:t>
            </a:r>
            <a:endParaRPr lang="zh-CN"/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446694F8-5DA3-8458-0AA0-0E9BDD48E5EE}"/>
              </a:ext>
            </a:extLst>
          </p:cNvPr>
          <p:cNvCxnSpPr>
            <a:stCxn id="15" idx="3"/>
            <a:endCxn id="17" idx="1"/>
          </p:cNvCxnSpPr>
          <p:nvPr/>
        </p:nvCxnSpPr>
        <p:spPr>
          <a:xfrm>
            <a:off x="2011680" y="2185416"/>
            <a:ext cx="45719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C74319B4-9178-2837-5999-D80A83475F89}"/>
              </a:ext>
            </a:extLst>
          </p:cNvPr>
          <p:cNvCxnSpPr/>
          <p:nvPr/>
        </p:nvCxnSpPr>
        <p:spPr>
          <a:xfrm>
            <a:off x="3886201" y="2157062"/>
            <a:ext cx="45719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06569B90-2F85-2EB3-CE38-764BF12C6753}"/>
              </a:ext>
            </a:extLst>
          </p:cNvPr>
          <p:cNvCxnSpPr/>
          <p:nvPr/>
        </p:nvCxnSpPr>
        <p:spPr>
          <a:xfrm>
            <a:off x="5760721" y="2215966"/>
            <a:ext cx="45719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B9174914-3BDF-E116-9D31-87A845A57A31}"/>
              </a:ext>
            </a:extLst>
          </p:cNvPr>
          <p:cNvCxnSpPr/>
          <p:nvPr/>
        </p:nvCxnSpPr>
        <p:spPr>
          <a:xfrm>
            <a:off x="7635240" y="2185416"/>
            <a:ext cx="45719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EC844A1D-C789-4AA3-6058-CE788B3BF27E}"/>
              </a:ext>
            </a:extLst>
          </p:cNvPr>
          <p:cNvCxnSpPr/>
          <p:nvPr/>
        </p:nvCxnSpPr>
        <p:spPr>
          <a:xfrm>
            <a:off x="9509761" y="2185416"/>
            <a:ext cx="45719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/>
          <p:nvPr/>
        </p:nvSpPr>
        <p:spPr>
          <a:xfrm>
            <a:off x="0" y="0"/>
            <a:ext cx="12192000" cy="201168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502920" y="310896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r>
              <a:rPr lang="zh-CN" sz="2500" dirty="0">
                <a:solidFill>
                  <a:srgbClr val="111827"/>
                </a:solidFill>
                <a:latin typeface="Microsoft YaHei"/>
                <a:ea typeface="Microsoft YaHei"/>
              </a:rPr>
              <a:t>RAG 知识库处理流程</a:t>
            </a:r>
            <a:endParaRPr lang="zh-CN"/>
          </a:p>
        </p:txBody>
      </p:sp>
      <p:sp>
        <p:nvSpPr>
          <p:cNvPr id="13" name="TextBox 13"/>
          <p:cNvSpPr txBox="1"/>
          <p:nvPr/>
        </p:nvSpPr>
        <p:spPr>
          <a:xfrm>
            <a:off x="530352" y="768096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r>
              <a:rPr lang="zh-CN" sz="1150" dirty="0">
                <a:solidFill>
                  <a:srgbClr val="64748B"/>
                </a:solidFill>
                <a:latin typeface="Microsoft YaHei"/>
                <a:ea typeface="Microsoft YaHei"/>
              </a:rPr>
              <a:t>将私有文档转化为可检索、可引用的上下文</a:t>
            </a:r>
            <a:endParaRPr lang="zh-CN"/>
          </a:p>
        </p:txBody>
      </p:sp>
      <p:sp>
        <p:nvSpPr>
          <p:cNvPr id="14" name="TextBox 14"/>
          <p:cNvSpPr txBox="1"/>
          <p:nvPr/>
        </p:nvSpPr>
        <p:spPr>
          <a:xfrm>
            <a:off x="10195560" y="402336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pPr algn="r"/>
            <a:r>
              <a:rPr lang="zh-CN" sz="1100" dirty="0">
                <a:solidFill>
                  <a:srgbClr val="2563EB"/>
                </a:solidFill>
                <a:latin typeface="Microsoft YaHei"/>
                <a:ea typeface="Microsoft YaHei"/>
              </a:rPr>
              <a:t>AgentX</a:t>
            </a:r>
            <a:endParaRPr lang="zh-CN"/>
          </a:p>
        </p:txBody>
      </p:sp>
      <p:sp>
        <p:nvSpPr>
          <p:cNvPr id="15" name="TextBox 15"/>
          <p:cNvSpPr txBox="1"/>
          <p:nvPr/>
        </p:nvSpPr>
        <p:spPr>
          <a:xfrm>
            <a:off x="411480" y="1600200"/>
            <a:ext cx="123444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563EB"/>
            </a:solidFill>
          </a:ln>
        </p:spPr>
        <p:txBody>
          <a:bodyPr wrap="square" lIns="91440" tIns="91440" rIns="91440" bIns="91440">
            <a:spAutoFit/>
          </a:bodyPr>
          <a:lstStyle/>
          <a:p>
            <a:pPr algn="ctr"/>
            <a:r>
              <a:rPr lang="zh-CN" sz="1250" dirty="0">
                <a:solidFill>
                  <a:srgbClr val="111827"/>
                </a:solidFill>
                <a:latin typeface="Microsoft YaHei"/>
                <a:ea typeface="Microsoft YaHei"/>
              </a:rPr>
              <a:t>文件上传</a:t>
            </a:r>
            <a:endParaRPr lang="zh-CN"/>
          </a:p>
        </p:txBody>
      </p:sp>
      <p:sp>
        <p:nvSpPr>
          <p:cNvPr id="17" name="TextBox 17"/>
          <p:cNvSpPr txBox="1"/>
          <p:nvPr/>
        </p:nvSpPr>
        <p:spPr>
          <a:xfrm>
            <a:off x="2075688" y="2606040"/>
            <a:ext cx="123444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563EB"/>
            </a:solidFill>
          </a:ln>
        </p:spPr>
        <p:txBody>
          <a:bodyPr wrap="square" lIns="91440" tIns="91440" rIns="91440" bIns="91440">
            <a:spAutoFit/>
          </a:bodyPr>
          <a:lstStyle/>
          <a:p>
            <a:pPr algn="ctr"/>
            <a:r>
              <a:rPr lang="zh-CN" sz="1250" dirty="0">
                <a:solidFill>
                  <a:srgbClr val="111827"/>
                </a:solidFill>
                <a:latin typeface="Microsoft YaHei"/>
                <a:ea typeface="Microsoft YaHei"/>
              </a:rPr>
              <a:t>类型识别</a:t>
            </a:r>
            <a:endParaRPr lang="zh-CN"/>
          </a:p>
        </p:txBody>
      </p:sp>
      <p:sp>
        <p:nvSpPr>
          <p:cNvPr id="19" name="TextBox 19"/>
          <p:cNvSpPr txBox="1"/>
          <p:nvPr/>
        </p:nvSpPr>
        <p:spPr>
          <a:xfrm>
            <a:off x="3739896" y="1600200"/>
            <a:ext cx="123444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7C3AED"/>
            </a:solidFill>
          </a:ln>
        </p:spPr>
        <p:txBody>
          <a:bodyPr wrap="square" lIns="91440" tIns="91440" rIns="91440" bIns="91440">
            <a:spAutoFit/>
          </a:bodyPr>
          <a:lstStyle/>
          <a:p>
            <a:pPr algn="ctr"/>
            <a:r>
              <a:rPr lang="zh-CN" sz="1250" dirty="0">
                <a:solidFill>
                  <a:srgbClr val="111827"/>
                </a:solidFill>
                <a:latin typeface="Microsoft YaHei"/>
                <a:ea typeface="Microsoft YaHei"/>
              </a:rPr>
              <a:t>文本解析</a:t>
            </a:r>
            <a:endParaRPr lang="zh-CN"/>
          </a:p>
        </p:txBody>
      </p:sp>
      <p:sp>
        <p:nvSpPr>
          <p:cNvPr id="21" name="TextBox 21"/>
          <p:cNvSpPr txBox="1"/>
          <p:nvPr/>
        </p:nvSpPr>
        <p:spPr>
          <a:xfrm>
            <a:off x="5404104" y="2606040"/>
            <a:ext cx="123444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7C3AED"/>
            </a:solidFill>
          </a:ln>
        </p:spPr>
        <p:txBody>
          <a:bodyPr wrap="square" lIns="91440" tIns="91440" rIns="91440" bIns="91440">
            <a:spAutoFit/>
          </a:bodyPr>
          <a:lstStyle/>
          <a:p>
            <a:pPr algn="ctr"/>
            <a:r>
              <a:rPr lang="zh-CN" sz="1250" dirty="0">
                <a:solidFill>
                  <a:srgbClr val="111827"/>
                </a:solidFill>
                <a:latin typeface="Microsoft YaHei"/>
                <a:ea typeface="Microsoft YaHei"/>
              </a:rPr>
              <a:t>结构化切分</a:t>
            </a:r>
            <a:endParaRPr lang="zh-CN"/>
          </a:p>
        </p:txBody>
      </p:sp>
      <p:sp>
        <p:nvSpPr>
          <p:cNvPr id="23" name="TextBox 23"/>
          <p:cNvSpPr txBox="1"/>
          <p:nvPr/>
        </p:nvSpPr>
        <p:spPr>
          <a:xfrm>
            <a:off x="7068312" y="1600200"/>
            <a:ext cx="123444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6A34A"/>
            </a:solidFill>
          </a:ln>
        </p:spPr>
        <p:txBody>
          <a:bodyPr wrap="square" lIns="91440" tIns="91440" rIns="91440" bIns="91440">
            <a:spAutoFit/>
          </a:bodyPr>
          <a:lstStyle/>
          <a:p>
            <a:pPr algn="ctr"/>
            <a:r>
              <a:rPr lang="zh-CN" sz="1250" dirty="0">
                <a:solidFill>
                  <a:srgbClr val="111827"/>
                </a:solidFill>
                <a:latin typeface="Microsoft YaHei"/>
                <a:ea typeface="Microsoft YaHei"/>
              </a:rPr>
              <a:t>Embedding</a:t>
            </a:r>
            <a:endParaRPr lang="zh-CN"/>
          </a:p>
        </p:txBody>
      </p:sp>
      <p:sp>
        <p:nvSpPr>
          <p:cNvPr id="25" name="TextBox 25"/>
          <p:cNvSpPr txBox="1"/>
          <p:nvPr/>
        </p:nvSpPr>
        <p:spPr>
          <a:xfrm>
            <a:off x="8732519" y="2606040"/>
            <a:ext cx="123444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6A34A"/>
            </a:solidFill>
          </a:ln>
        </p:spPr>
        <p:txBody>
          <a:bodyPr wrap="square" lIns="91440" tIns="91440" rIns="91440" bIns="91440">
            <a:spAutoFit/>
          </a:bodyPr>
          <a:lstStyle/>
          <a:p>
            <a:pPr algn="ctr"/>
            <a:r>
              <a:rPr lang="zh-CN" sz="1250" dirty="0">
                <a:solidFill>
                  <a:srgbClr val="111827"/>
                </a:solidFill>
                <a:latin typeface="Microsoft YaHei"/>
                <a:ea typeface="Microsoft YaHei"/>
              </a:rPr>
              <a:t>pgvector 存储</a:t>
            </a:r>
            <a:endParaRPr lang="zh-CN"/>
          </a:p>
        </p:txBody>
      </p:sp>
      <p:sp>
        <p:nvSpPr>
          <p:cNvPr id="27" name="TextBox 27"/>
          <p:cNvSpPr txBox="1"/>
          <p:nvPr/>
        </p:nvSpPr>
        <p:spPr>
          <a:xfrm>
            <a:off x="10396728" y="1600200"/>
            <a:ext cx="123444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97316"/>
            </a:solidFill>
          </a:ln>
        </p:spPr>
        <p:txBody>
          <a:bodyPr wrap="square" lIns="91440" tIns="91440" rIns="91440" bIns="91440">
            <a:spAutoFit/>
          </a:bodyPr>
          <a:lstStyle/>
          <a:p>
            <a:pPr algn="ctr"/>
            <a:r>
              <a:rPr lang="zh-CN" sz="1250" dirty="0">
                <a:solidFill>
                  <a:srgbClr val="111827"/>
                </a:solidFill>
                <a:latin typeface="Microsoft YaHei"/>
                <a:ea typeface="Microsoft YaHei"/>
              </a:rPr>
              <a:t>检索增强回答</a:t>
            </a:r>
            <a:endParaRPr lang="zh-CN"/>
          </a:p>
        </p:txBody>
      </p:sp>
      <p:sp>
        <p:nvSpPr>
          <p:cNvPr id="28" name="TextBox 28"/>
          <p:cNvSpPr txBox="1"/>
          <p:nvPr/>
        </p:nvSpPr>
        <p:spPr>
          <a:xfrm>
            <a:off x="1097280" y="4069080"/>
            <a:ext cx="9418320" cy="109728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pPr marL="260000" indent="-150000">
              <a:buChar char="•"/>
            </a:pPr>
            <a:r>
              <a:rPr lang="zh-CN" sz="1600" dirty="0">
                <a:solidFill>
                  <a:srgbClr val="111827"/>
                </a:solidFill>
                <a:latin typeface="Microsoft YaHei"/>
                <a:ea typeface="Microsoft YaHei"/>
              </a:rPr>
              <a:t>文件处理不阻塞前端请求，状态和进度可查询</a:t>
            </a:r>
            <a:endParaRPr lang="zh-CN"/>
          </a:p>
          <a:p>
            <a:pPr marL="260000" indent="-150000">
              <a:buChar char="•"/>
            </a:pPr>
            <a:r>
              <a:rPr lang="zh-CN" sz="1600" dirty="0">
                <a:solidFill>
                  <a:srgbClr val="111827"/>
                </a:solidFill>
                <a:latin typeface="Microsoft YaHei"/>
                <a:ea typeface="Microsoft YaHei"/>
              </a:rPr>
              <a:t>文档切片进入向量库，提问时先召回相关片段</a:t>
            </a:r>
            <a:endParaRPr lang="zh-CN"/>
          </a:p>
          <a:p>
            <a:pPr marL="260000" indent="-150000">
              <a:buChar char="•"/>
            </a:pPr>
            <a:r>
              <a:rPr lang="zh-CN" sz="1600" dirty="0">
                <a:solidFill>
                  <a:srgbClr val="111827"/>
                </a:solidFill>
                <a:latin typeface="Microsoft YaHei"/>
                <a:ea typeface="Microsoft YaHei"/>
              </a:rPr>
              <a:t>后续可继续优化分块策略、rerank 与召回评估</a:t>
            </a:r>
            <a:endParaRPr lang="zh-CN"/>
          </a:p>
        </p:txBody>
      </p:sp>
      <p:cxnSp>
        <p:nvCxnSpPr>
          <p:cNvPr id="29" name="Connector 29"/>
          <p:cNvCxnSpPr/>
          <p:nvPr/>
        </p:nvCxnSpPr>
        <p:spPr>
          <a:xfrm>
            <a:off x="502920" y="6473952"/>
            <a:ext cx="11155680" cy="1"/>
          </a:xfrm>
          <a:prstGeom prst="straightConnector1">
            <a:avLst/>
          </a:prstGeom>
          <a:ln w="9000">
            <a:solidFill>
              <a:srgbClr val="E2E8F0"/>
            </a:solidFill>
          </a:ln>
        </p:spPr>
      </p:cxnSp>
      <p:sp>
        <p:nvSpPr>
          <p:cNvPr id="30" name="TextBox 30"/>
          <p:cNvSpPr txBox="1"/>
          <p:nvPr/>
        </p:nvSpPr>
        <p:spPr>
          <a:xfrm>
            <a:off x="548640" y="6510528"/>
            <a:ext cx="530352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r>
              <a:rPr lang="zh-CN" sz="850" dirty="0">
                <a:solidFill>
                  <a:srgbClr val="64748B"/>
                </a:solidFill>
                <a:latin typeface="Microsoft YaHei"/>
                <a:ea typeface="Microsoft YaHei"/>
              </a:rPr>
              <a:t>基于 Spring Boot 与 Next.js 的智能 Agent 平台设计与实现</a:t>
            </a:r>
            <a:endParaRPr lang="zh-CN"/>
          </a:p>
        </p:txBody>
      </p:sp>
      <p:sp>
        <p:nvSpPr>
          <p:cNvPr id="31" name="TextBox 31"/>
          <p:cNvSpPr txBox="1"/>
          <p:nvPr/>
        </p:nvSpPr>
        <p:spPr>
          <a:xfrm>
            <a:off x="11064240" y="6510528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pPr algn="r"/>
            <a:r>
              <a:rPr lang="zh-CN" sz="850" dirty="0">
                <a:solidFill>
                  <a:srgbClr val="64748B"/>
                </a:solidFill>
                <a:latin typeface="Microsoft YaHei"/>
                <a:ea typeface="Microsoft YaHei"/>
              </a:rPr>
              <a:t>10</a:t>
            </a:r>
            <a:endParaRPr lang="zh-CN"/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919F85F6-F5A3-E2FA-99C3-95B505B4EF7F}"/>
              </a:ext>
            </a:extLst>
          </p:cNvPr>
          <p:cNvCxnSpPr>
            <a:stCxn id="15" idx="3"/>
            <a:endCxn id="19" idx="1"/>
          </p:cNvCxnSpPr>
          <p:nvPr/>
        </p:nvCxnSpPr>
        <p:spPr>
          <a:xfrm>
            <a:off x="1645920" y="1883664"/>
            <a:ext cx="209397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14277DD0-0CA9-612A-B48F-56EDED5D249D}"/>
              </a:ext>
            </a:extLst>
          </p:cNvPr>
          <p:cNvCxnSpPr/>
          <p:nvPr/>
        </p:nvCxnSpPr>
        <p:spPr>
          <a:xfrm>
            <a:off x="4974336" y="1897841"/>
            <a:ext cx="209397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A445FB35-6BB7-92FE-790F-7A051C706AF1}"/>
              </a:ext>
            </a:extLst>
          </p:cNvPr>
          <p:cNvCxnSpPr/>
          <p:nvPr/>
        </p:nvCxnSpPr>
        <p:spPr>
          <a:xfrm>
            <a:off x="8302752" y="1883664"/>
            <a:ext cx="209397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9A82A03D-B8C4-1B18-556C-F6C8DB9F30F9}"/>
              </a:ext>
            </a:extLst>
          </p:cNvPr>
          <p:cNvCxnSpPr/>
          <p:nvPr/>
        </p:nvCxnSpPr>
        <p:spPr>
          <a:xfrm>
            <a:off x="3310128" y="2890213"/>
            <a:ext cx="209397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E577E9FB-3707-DC28-5843-A2DE9345C364}"/>
              </a:ext>
            </a:extLst>
          </p:cNvPr>
          <p:cNvCxnSpPr/>
          <p:nvPr/>
        </p:nvCxnSpPr>
        <p:spPr>
          <a:xfrm>
            <a:off x="6638543" y="2881282"/>
            <a:ext cx="209397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/>
          <p:nvPr/>
        </p:nvSpPr>
        <p:spPr>
          <a:xfrm>
            <a:off x="0" y="0"/>
            <a:ext cx="12192000" cy="201168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502920" y="310896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r>
              <a:rPr lang="zh-CN" sz="2500" dirty="0">
                <a:solidFill>
                  <a:srgbClr val="111827"/>
                </a:solidFill>
                <a:latin typeface="Microsoft YaHei"/>
                <a:ea typeface="Microsoft YaHei"/>
              </a:rPr>
              <a:t>工具市场与 MCP 扩展</a:t>
            </a:r>
            <a:endParaRPr lang="zh-CN"/>
          </a:p>
        </p:txBody>
      </p:sp>
      <p:sp>
        <p:nvSpPr>
          <p:cNvPr id="13" name="TextBox 13"/>
          <p:cNvSpPr txBox="1"/>
          <p:nvPr/>
        </p:nvSpPr>
        <p:spPr>
          <a:xfrm>
            <a:off x="530352" y="768096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r>
              <a:rPr lang="zh-CN" sz="1150" dirty="0">
                <a:solidFill>
                  <a:srgbClr val="64748B"/>
                </a:solidFill>
                <a:latin typeface="Microsoft YaHei"/>
                <a:ea typeface="Microsoft YaHei"/>
              </a:rPr>
              <a:t>让 Agent 不只回答文本，还能连接外部工具和执行环境</a:t>
            </a:r>
            <a:endParaRPr lang="zh-CN"/>
          </a:p>
        </p:txBody>
      </p:sp>
      <p:sp>
        <p:nvSpPr>
          <p:cNvPr id="14" name="TextBox 14"/>
          <p:cNvSpPr txBox="1"/>
          <p:nvPr/>
        </p:nvSpPr>
        <p:spPr>
          <a:xfrm>
            <a:off x="10195560" y="402336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pPr algn="r"/>
            <a:r>
              <a:rPr lang="zh-CN" sz="1100" dirty="0">
                <a:solidFill>
                  <a:srgbClr val="2563EB"/>
                </a:solidFill>
                <a:latin typeface="Microsoft YaHei"/>
                <a:ea typeface="Microsoft YaHei"/>
              </a:rPr>
              <a:t>AgentX</a:t>
            </a:r>
            <a:endParaRPr lang="zh-CN"/>
          </a:p>
        </p:txBody>
      </p:sp>
      <p:pic>
        <p:nvPicPr>
          <p:cNvPr id="15" name="image5.png"/>
          <p:cNvPicPr>
            <a:picLocks noChangeAspect="1"/>
          </p:cNvPicPr>
          <p:nvPr/>
        </p:nvPicPr>
        <p:blipFill>
          <a:blip r:embed="rId2"/>
          <a:srcRect l="9587"/>
          <a:stretch>
            <a:fillRect/>
          </a:stretch>
        </p:blipFill>
        <p:spPr>
          <a:xfrm>
            <a:off x="5675322" y="1509716"/>
            <a:ext cx="6425414" cy="3674931"/>
          </a:xfrm>
          <a:prstGeom prst="rect">
            <a:avLst/>
          </a:prstGeom>
          <a:ln w="6350">
            <a:solidFill>
              <a:srgbClr val="D8E2F0"/>
            </a:solidFill>
          </a:ln>
        </p:spPr>
      </p:pic>
      <p:sp>
        <p:nvSpPr>
          <p:cNvPr id="16" name="Shape 16"/>
          <p:cNvSpPr/>
          <p:nvPr/>
        </p:nvSpPr>
        <p:spPr>
          <a:xfrm>
            <a:off x="731520" y="1234440"/>
            <a:ext cx="4754880" cy="1143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2F0"/>
            </a:solidFill>
          </a:ln>
        </p:spPr>
      </p:sp>
      <p:sp>
        <p:nvSpPr>
          <p:cNvPr id="17" name="Shape 17"/>
          <p:cNvSpPr/>
          <p:nvPr/>
        </p:nvSpPr>
        <p:spPr>
          <a:xfrm>
            <a:off x="731520" y="1234440"/>
            <a:ext cx="73152" cy="1143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932688" y="1344168"/>
            <a:ext cx="443484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r>
              <a:rPr lang="zh-CN" sz="1500" dirty="0">
                <a:solidFill>
                  <a:srgbClr val="111827"/>
                </a:solidFill>
                <a:latin typeface="Microsoft YaHei"/>
                <a:ea typeface="Microsoft YaHei"/>
              </a:rPr>
              <a:t>工具市场解决什么</a:t>
            </a:r>
            <a:endParaRPr lang="zh-CN"/>
          </a:p>
        </p:txBody>
      </p:sp>
      <p:sp>
        <p:nvSpPr>
          <p:cNvPr id="19" name="TextBox 19"/>
          <p:cNvSpPr txBox="1"/>
          <p:nvPr/>
        </p:nvSpPr>
        <p:spPr>
          <a:xfrm>
            <a:off x="932688" y="1737360"/>
            <a:ext cx="4434840" cy="54864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pPr marL="260000" indent="-150000">
              <a:buChar char="•"/>
            </a:pPr>
            <a:r>
              <a:rPr lang="zh-CN" sz="1050" dirty="0">
                <a:solidFill>
                  <a:srgbClr val="64748B"/>
                </a:solidFill>
                <a:latin typeface="Microsoft YaHei"/>
                <a:ea typeface="Microsoft YaHei"/>
              </a:rPr>
              <a:t>工具定义、版本、安装、审核统一管理</a:t>
            </a:r>
            <a:endParaRPr lang="zh-CN"/>
          </a:p>
          <a:p>
            <a:pPr marL="260000" indent="-150000">
              <a:buChar char="•"/>
            </a:pPr>
            <a:r>
              <a:rPr lang="zh-CN" sz="1050" dirty="0">
                <a:solidFill>
                  <a:srgbClr val="64748B"/>
                </a:solidFill>
                <a:latin typeface="Microsoft YaHei"/>
                <a:ea typeface="Microsoft YaHei"/>
              </a:rPr>
              <a:t>为 Agent 提供外部能力扩展入口</a:t>
            </a:r>
            <a:endParaRPr lang="zh-CN"/>
          </a:p>
        </p:txBody>
      </p:sp>
      <p:sp>
        <p:nvSpPr>
          <p:cNvPr id="20" name="Shape 20"/>
          <p:cNvSpPr/>
          <p:nvPr/>
        </p:nvSpPr>
        <p:spPr>
          <a:xfrm>
            <a:off x="731520" y="2743200"/>
            <a:ext cx="4754880" cy="1143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2F0"/>
            </a:solidFill>
          </a:ln>
        </p:spPr>
      </p:sp>
      <p:sp>
        <p:nvSpPr>
          <p:cNvPr id="21" name="Shape 21"/>
          <p:cNvSpPr/>
          <p:nvPr/>
        </p:nvSpPr>
        <p:spPr>
          <a:xfrm>
            <a:off x="731520" y="2743200"/>
            <a:ext cx="73152" cy="1143000"/>
          </a:xfrm>
          <a:prstGeom prst="rect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932688" y="2852928"/>
            <a:ext cx="443484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r>
              <a:rPr lang="zh-CN" sz="1500" dirty="0">
                <a:solidFill>
                  <a:srgbClr val="111827"/>
                </a:solidFill>
                <a:latin typeface="Microsoft YaHei"/>
                <a:ea typeface="Microsoft YaHei"/>
              </a:rPr>
              <a:t>当前实现</a:t>
            </a:r>
            <a:endParaRPr lang="zh-CN"/>
          </a:p>
        </p:txBody>
      </p:sp>
      <p:sp>
        <p:nvSpPr>
          <p:cNvPr id="23" name="TextBox 23"/>
          <p:cNvSpPr txBox="1"/>
          <p:nvPr/>
        </p:nvSpPr>
        <p:spPr>
          <a:xfrm>
            <a:off x="932688" y="3246120"/>
            <a:ext cx="4434840" cy="54864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pPr marL="260000" indent="-150000">
              <a:buChar char="•"/>
            </a:pPr>
            <a:r>
              <a:rPr lang="zh-CN" sz="1050" dirty="0">
                <a:solidFill>
                  <a:srgbClr val="64748B"/>
                </a:solidFill>
                <a:latin typeface="Microsoft YaHei"/>
                <a:ea typeface="Microsoft YaHei"/>
              </a:rPr>
              <a:t>工作区命令工具、文件工具</a:t>
            </a:r>
            <a:endParaRPr lang="zh-CN"/>
          </a:p>
          <a:p>
            <a:pPr marL="260000" indent="-150000">
              <a:buChar char="•"/>
            </a:pPr>
            <a:r>
              <a:rPr lang="zh-CN" sz="1050" dirty="0">
                <a:solidFill>
                  <a:srgbClr val="64748B"/>
                </a:solidFill>
                <a:latin typeface="Microsoft YaHei"/>
                <a:ea typeface="Microsoft YaHei"/>
              </a:rPr>
              <a:t>用户创建/安装工具列表</a:t>
            </a:r>
            <a:endParaRPr lang="zh-CN"/>
          </a:p>
        </p:txBody>
      </p:sp>
      <p:sp>
        <p:nvSpPr>
          <p:cNvPr id="24" name="Shape 24"/>
          <p:cNvSpPr/>
          <p:nvPr/>
        </p:nvSpPr>
        <p:spPr>
          <a:xfrm>
            <a:off x="731520" y="4251960"/>
            <a:ext cx="4754880" cy="1143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2F0"/>
            </a:solidFill>
          </a:ln>
        </p:spPr>
      </p:sp>
      <p:sp>
        <p:nvSpPr>
          <p:cNvPr id="25" name="Shape 25"/>
          <p:cNvSpPr/>
          <p:nvPr/>
        </p:nvSpPr>
        <p:spPr>
          <a:xfrm>
            <a:off x="731520" y="4251960"/>
            <a:ext cx="73152" cy="1143000"/>
          </a:xfrm>
          <a:prstGeom prst="rect">
            <a:avLst/>
          </a:prstGeom>
          <a:solidFill>
            <a:srgbClr val="F97316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932688" y="4361688"/>
            <a:ext cx="443484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r>
              <a:rPr lang="zh-CN" sz="1500" dirty="0">
                <a:solidFill>
                  <a:srgbClr val="111827"/>
                </a:solidFill>
                <a:latin typeface="Microsoft YaHei"/>
                <a:ea typeface="Microsoft YaHei"/>
              </a:rPr>
              <a:t>后续扩展</a:t>
            </a:r>
            <a:endParaRPr lang="zh-CN"/>
          </a:p>
        </p:txBody>
      </p:sp>
      <p:sp>
        <p:nvSpPr>
          <p:cNvPr id="27" name="TextBox 27"/>
          <p:cNvSpPr txBox="1"/>
          <p:nvPr/>
        </p:nvSpPr>
        <p:spPr>
          <a:xfrm>
            <a:off x="932688" y="4754880"/>
            <a:ext cx="4434840" cy="54864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pPr marL="260000" indent="-150000">
              <a:buChar char="•"/>
            </a:pPr>
            <a:r>
              <a:rPr lang="zh-CN" sz="1050" dirty="0">
                <a:solidFill>
                  <a:srgbClr val="64748B"/>
                </a:solidFill>
                <a:latin typeface="Microsoft YaHei"/>
                <a:ea typeface="Microsoft YaHei"/>
              </a:rPr>
              <a:t>更多 MCP 工具协议</a:t>
            </a:r>
            <a:endParaRPr lang="zh-CN"/>
          </a:p>
          <a:p>
            <a:pPr marL="260000" indent="-150000">
              <a:buChar char="•"/>
            </a:pPr>
            <a:r>
              <a:rPr lang="zh-CN" sz="1050" dirty="0">
                <a:solidFill>
                  <a:srgbClr val="64748B"/>
                </a:solidFill>
                <a:latin typeface="Microsoft YaHei"/>
                <a:ea typeface="Microsoft YaHei"/>
              </a:rPr>
              <a:t>更完整的工具调用追踪和失败诊断</a:t>
            </a:r>
            <a:endParaRPr lang="zh-CN"/>
          </a:p>
        </p:txBody>
      </p:sp>
      <p:cxnSp>
        <p:nvCxnSpPr>
          <p:cNvPr id="28" name="Connector 28"/>
          <p:cNvCxnSpPr/>
          <p:nvPr/>
        </p:nvCxnSpPr>
        <p:spPr>
          <a:xfrm>
            <a:off x="502920" y="6473952"/>
            <a:ext cx="11155680" cy="1"/>
          </a:xfrm>
          <a:prstGeom prst="straightConnector1">
            <a:avLst/>
          </a:prstGeom>
          <a:ln w="9000">
            <a:solidFill>
              <a:srgbClr val="E2E8F0"/>
            </a:solidFill>
          </a:ln>
        </p:spPr>
      </p:cxnSp>
      <p:sp>
        <p:nvSpPr>
          <p:cNvPr id="29" name="TextBox 29"/>
          <p:cNvSpPr txBox="1"/>
          <p:nvPr/>
        </p:nvSpPr>
        <p:spPr>
          <a:xfrm>
            <a:off x="548640" y="6510528"/>
            <a:ext cx="530352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r>
              <a:rPr lang="zh-CN" sz="850" dirty="0">
                <a:solidFill>
                  <a:srgbClr val="64748B"/>
                </a:solidFill>
                <a:latin typeface="Microsoft YaHei"/>
                <a:ea typeface="Microsoft YaHei"/>
              </a:rPr>
              <a:t>基于 Spring Boot 与 Next.js 的智能 Agent 平台设计与实现</a:t>
            </a:r>
            <a:endParaRPr lang="zh-CN"/>
          </a:p>
        </p:txBody>
      </p:sp>
      <p:sp>
        <p:nvSpPr>
          <p:cNvPr id="30" name="TextBox 30"/>
          <p:cNvSpPr txBox="1"/>
          <p:nvPr/>
        </p:nvSpPr>
        <p:spPr>
          <a:xfrm>
            <a:off x="11064240" y="6510528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pPr algn="r"/>
            <a:r>
              <a:rPr lang="zh-CN" sz="850" dirty="0">
                <a:solidFill>
                  <a:srgbClr val="64748B"/>
                </a:solidFill>
                <a:latin typeface="Microsoft YaHei"/>
                <a:ea typeface="Microsoft YaHei"/>
              </a:rPr>
              <a:t>11</a:t>
            </a:r>
            <a:endParaRPr lang="zh-C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/>
          <p:nvPr/>
        </p:nvSpPr>
        <p:spPr>
          <a:xfrm>
            <a:off x="0" y="0"/>
            <a:ext cx="12192000" cy="201168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502920" y="310896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r>
              <a:rPr lang="zh-CN" sz="2500" dirty="0">
                <a:solidFill>
                  <a:srgbClr val="111827"/>
                </a:solidFill>
                <a:latin typeface="Microsoft YaHei"/>
                <a:ea typeface="Microsoft YaHei"/>
              </a:rPr>
              <a:t>模型服务与用户配置</a:t>
            </a:r>
            <a:endParaRPr lang="zh-CN"/>
          </a:p>
        </p:txBody>
      </p:sp>
      <p:sp>
        <p:nvSpPr>
          <p:cNvPr id="13" name="TextBox 13"/>
          <p:cNvSpPr txBox="1"/>
          <p:nvPr/>
        </p:nvSpPr>
        <p:spPr>
          <a:xfrm>
            <a:off x="530352" y="768096"/>
            <a:ext cx="9144000" cy="215444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r>
              <a:rPr lang="zh-CN" sz="1400" dirty="0">
                <a:solidFill>
                  <a:srgbClr val="64748B"/>
                </a:solidFill>
                <a:latin typeface="Microsoft YaHei"/>
                <a:ea typeface="Microsoft YaHei"/>
              </a:rPr>
              <a:t>平台需要支持不同模型供应商、对话模型、OCR 模型和嵌入模型</a:t>
            </a:r>
            <a:endParaRPr lang="zh-CN" sz="1400" dirty="0"/>
          </a:p>
        </p:txBody>
      </p:sp>
      <p:sp>
        <p:nvSpPr>
          <p:cNvPr id="14" name="TextBox 14"/>
          <p:cNvSpPr txBox="1"/>
          <p:nvPr/>
        </p:nvSpPr>
        <p:spPr>
          <a:xfrm>
            <a:off x="10195560" y="402336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pPr algn="r"/>
            <a:r>
              <a:rPr lang="zh-CN" sz="1100" dirty="0">
                <a:solidFill>
                  <a:srgbClr val="2563EB"/>
                </a:solidFill>
                <a:latin typeface="Microsoft YaHei"/>
                <a:ea typeface="Microsoft YaHei"/>
              </a:rPr>
              <a:t>AgentX</a:t>
            </a:r>
            <a:endParaRPr lang="zh-CN"/>
          </a:p>
        </p:txBody>
      </p:sp>
      <p:pic>
        <p:nvPicPr>
          <p:cNvPr id="15" name="image7.png"/>
          <p:cNvPicPr>
            <a:picLocks noChangeAspect="1"/>
          </p:cNvPicPr>
          <p:nvPr/>
        </p:nvPicPr>
        <p:blipFill>
          <a:blip r:embed="rId2"/>
          <a:srcRect l="5498"/>
          <a:stretch>
            <a:fillRect/>
          </a:stretch>
        </p:blipFill>
        <p:spPr>
          <a:xfrm>
            <a:off x="403365" y="1497496"/>
            <a:ext cx="6866115" cy="3760303"/>
          </a:xfrm>
          <a:prstGeom prst="rect">
            <a:avLst/>
          </a:prstGeom>
          <a:ln w="6350">
            <a:solidFill>
              <a:srgbClr val="D8E2F0"/>
            </a:solidFill>
          </a:ln>
        </p:spPr>
      </p:pic>
      <p:sp>
        <p:nvSpPr>
          <p:cNvPr id="16" name="Shape 16"/>
          <p:cNvSpPr/>
          <p:nvPr/>
        </p:nvSpPr>
        <p:spPr>
          <a:xfrm>
            <a:off x="7635240" y="1325880"/>
            <a:ext cx="3200400" cy="1097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2F0"/>
            </a:solidFill>
          </a:ln>
        </p:spPr>
      </p:sp>
      <p:sp>
        <p:nvSpPr>
          <p:cNvPr id="17" name="Shape 17"/>
          <p:cNvSpPr/>
          <p:nvPr/>
        </p:nvSpPr>
        <p:spPr>
          <a:xfrm>
            <a:off x="7635240" y="1325880"/>
            <a:ext cx="73152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7836408" y="1435608"/>
            <a:ext cx="288036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r>
              <a:rPr lang="zh-CN" sz="1500" dirty="0">
                <a:solidFill>
                  <a:srgbClr val="111827"/>
                </a:solidFill>
                <a:latin typeface="Microsoft YaHei"/>
                <a:ea typeface="Microsoft YaHei"/>
              </a:rPr>
              <a:t>对话模型</a:t>
            </a:r>
            <a:endParaRPr lang="zh-CN"/>
          </a:p>
        </p:txBody>
      </p:sp>
      <p:sp>
        <p:nvSpPr>
          <p:cNvPr id="19" name="TextBox 19"/>
          <p:cNvSpPr txBox="1"/>
          <p:nvPr/>
        </p:nvSpPr>
        <p:spPr>
          <a:xfrm>
            <a:off x="7836408" y="1828800"/>
            <a:ext cx="288036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pPr marL="260000" indent="-150000">
              <a:buChar char="•"/>
            </a:pPr>
            <a:r>
              <a:rPr lang="zh-CN" sz="1050" dirty="0">
                <a:solidFill>
                  <a:srgbClr val="64748B"/>
                </a:solidFill>
                <a:latin typeface="Microsoft YaHei"/>
                <a:ea typeface="Microsoft YaHei"/>
              </a:rPr>
              <a:t>作为普通会话默认选择</a:t>
            </a:r>
            <a:endParaRPr lang="zh-CN"/>
          </a:p>
        </p:txBody>
      </p:sp>
      <p:sp>
        <p:nvSpPr>
          <p:cNvPr id="20" name="Shape 20"/>
          <p:cNvSpPr/>
          <p:nvPr/>
        </p:nvSpPr>
        <p:spPr>
          <a:xfrm>
            <a:off x="7635240" y="2743200"/>
            <a:ext cx="3200400" cy="1097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2F0"/>
            </a:solidFill>
          </a:ln>
        </p:spPr>
      </p:sp>
      <p:sp>
        <p:nvSpPr>
          <p:cNvPr id="21" name="Shape 21"/>
          <p:cNvSpPr/>
          <p:nvPr/>
        </p:nvSpPr>
        <p:spPr>
          <a:xfrm>
            <a:off x="7635240" y="2743200"/>
            <a:ext cx="73152" cy="1097280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7836408" y="2852928"/>
            <a:ext cx="288036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r>
              <a:rPr lang="zh-CN" sz="1500" dirty="0">
                <a:solidFill>
                  <a:srgbClr val="111827"/>
                </a:solidFill>
                <a:latin typeface="Microsoft YaHei"/>
                <a:ea typeface="Microsoft YaHei"/>
              </a:rPr>
              <a:t>OCR 模型</a:t>
            </a:r>
            <a:endParaRPr lang="zh-CN"/>
          </a:p>
        </p:txBody>
      </p:sp>
      <p:sp>
        <p:nvSpPr>
          <p:cNvPr id="23" name="TextBox 23"/>
          <p:cNvSpPr txBox="1"/>
          <p:nvPr/>
        </p:nvSpPr>
        <p:spPr>
          <a:xfrm>
            <a:off x="7836408" y="3246120"/>
            <a:ext cx="288036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pPr marL="260000" indent="-150000">
              <a:buChar char="•"/>
            </a:pPr>
            <a:r>
              <a:rPr lang="zh-CN" sz="1050" dirty="0">
                <a:solidFill>
                  <a:srgbClr val="64748B"/>
                </a:solidFill>
                <a:latin typeface="Microsoft YaHei"/>
                <a:ea typeface="Microsoft YaHei"/>
              </a:rPr>
              <a:t>用于 RAG 文档图像识别</a:t>
            </a:r>
            <a:endParaRPr lang="zh-CN"/>
          </a:p>
        </p:txBody>
      </p:sp>
      <p:sp>
        <p:nvSpPr>
          <p:cNvPr id="24" name="Shape 24"/>
          <p:cNvSpPr/>
          <p:nvPr/>
        </p:nvSpPr>
        <p:spPr>
          <a:xfrm>
            <a:off x="7635240" y="4160520"/>
            <a:ext cx="3200400" cy="1097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2F0"/>
            </a:solidFill>
          </a:ln>
        </p:spPr>
      </p:sp>
      <p:sp>
        <p:nvSpPr>
          <p:cNvPr id="25" name="Shape 25"/>
          <p:cNvSpPr/>
          <p:nvPr/>
        </p:nvSpPr>
        <p:spPr>
          <a:xfrm>
            <a:off x="7635240" y="4160520"/>
            <a:ext cx="73152" cy="1097280"/>
          </a:xfrm>
          <a:prstGeom prst="rect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7836408" y="4270248"/>
            <a:ext cx="288036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r>
              <a:rPr lang="zh-CN" sz="1500" dirty="0">
                <a:solidFill>
                  <a:srgbClr val="111827"/>
                </a:solidFill>
                <a:latin typeface="Microsoft YaHei"/>
                <a:ea typeface="Microsoft YaHei"/>
              </a:rPr>
              <a:t>嵌入模型</a:t>
            </a:r>
            <a:endParaRPr lang="zh-CN"/>
          </a:p>
        </p:txBody>
      </p:sp>
      <p:sp>
        <p:nvSpPr>
          <p:cNvPr id="27" name="TextBox 27"/>
          <p:cNvSpPr txBox="1"/>
          <p:nvPr/>
        </p:nvSpPr>
        <p:spPr>
          <a:xfrm>
            <a:off x="7836408" y="4663440"/>
            <a:ext cx="288036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pPr marL="260000" indent="-150000">
              <a:buChar char="•"/>
            </a:pPr>
            <a:r>
              <a:rPr lang="zh-CN" sz="1050" dirty="0">
                <a:solidFill>
                  <a:srgbClr val="64748B"/>
                </a:solidFill>
                <a:latin typeface="Microsoft YaHei"/>
                <a:ea typeface="Microsoft YaHei"/>
              </a:rPr>
              <a:t>生成向量，用于语义搜索</a:t>
            </a:r>
            <a:endParaRPr lang="zh-CN"/>
          </a:p>
        </p:txBody>
      </p:sp>
      <p:cxnSp>
        <p:nvCxnSpPr>
          <p:cNvPr id="28" name="Connector 28"/>
          <p:cNvCxnSpPr/>
          <p:nvPr/>
        </p:nvCxnSpPr>
        <p:spPr>
          <a:xfrm>
            <a:off x="502920" y="6473952"/>
            <a:ext cx="11155680" cy="1"/>
          </a:xfrm>
          <a:prstGeom prst="straightConnector1">
            <a:avLst/>
          </a:prstGeom>
          <a:ln w="9000">
            <a:solidFill>
              <a:srgbClr val="E2E8F0"/>
            </a:solidFill>
          </a:ln>
        </p:spPr>
      </p:cxnSp>
      <p:sp>
        <p:nvSpPr>
          <p:cNvPr id="29" name="TextBox 29"/>
          <p:cNvSpPr txBox="1"/>
          <p:nvPr/>
        </p:nvSpPr>
        <p:spPr>
          <a:xfrm>
            <a:off x="548640" y="6510528"/>
            <a:ext cx="530352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r>
              <a:rPr lang="zh-CN" sz="850" dirty="0">
                <a:solidFill>
                  <a:srgbClr val="64748B"/>
                </a:solidFill>
                <a:latin typeface="Microsoft YaHei"/>
                <a:ea typeface="Microsoft YaHei"/>
              </a:rPr>
              <a:t>基于 Spring Boot 与 Next.js 的智能 Agent 平台设计与实现</a:t>
            </a:r>
            <a:endParaRPr lang="zh-CN"/>
          </a:p>
        </p:txBody>
      </p:sp>
      <p:sp>
        <p:nvSpPr>
          <p:cNvPr id="30" name="TextBox 30"/>
          <p:cNvSpPr txBox="1"/>
          <p:nvPr/>
        </p:nvSpPr>
        <p:spPr>
          <a:xfrm>
            <a:off x="11064240" y="6510528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pPr algn="r"/>
            <a:r>
              <a:rPr lang="zh-CN" sz="850" dirty="0">
                <a:solidFill>
                  <a:srgbClr val="64748B"/>
                </a:solidFill>
                <a:latin typeface="Microsoft YaHei"/>
                <a:ea typeface="Microsoft YaHei"/>
              </a:rPr>
              <a:t>12</a:t>
            </a:r>
            <a:endParaRPr lang="zh-C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/>
          <p:nvPr/>
        </p:nvSpPr>
        <p:spPr>
          <a:xfrm>
            <a:off x="0" y="0"/>
            <a:ext cx="12192000" cy="201168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502920" y="310896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r>
              <a:rPr lang="zh-CN" sz="2500" dirty="0">
                <a:solidFill>
                  <a:srgbClr val="111827"/>
                </a:solidFill>
                <a:latin typeface="Microsoft YaHei"/>
                <a:ea typeface="Microsoft YaHei"/>
              </a:rPr>
              <a:t>云服务器部署与运行环境</a:t>
            </a:r>
            <a:endParaRPr lang="zh-CN"/>
          </a:p>
        </p:txBody>
      </p:sp>
      <p:sp>
        <p:nvSpPr>
          <p:cNvPr id="13" name="TextBox 13"/>
          <p:cNvSpPr txBox="1"/>
          <p:nvPr/>
        </p:nvSpPr>
        <p:spPr>
          <a:xfrm>
            <a:off x="530352" y="768096"/>
            <a:ext cx="9144000" cy="215444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r>
              <a:rPr lang="zh-CN" sz="1400" dirty="0">
                <a:solidFill>
                  <a:srgbClr val="64748B"/>
                </a:solidFill>
                <a:latin typeface="Microsoft YaHei"/>
                <a:ea typeface="Microsoft YaHei"/>
              </a:rPr>
              <a:t>Docker Compose 将多服务依赖统一编排，降低演示和部署复杂度</a:t>
            </a:r>
            <a:endParaRPr lang="zh-CN" sz="1400" dirty="0"/>
          </a:p>
        </p:txBody>
      </p:sp>
      <p:sp>
        <p:nvSpPr>
          <p:cNvPr id="14" name="TextBox 14"/>
          <p:cNvSpPr txBox="1"/>
          <p:nvPr/>
        </p:nvSpPr>
        <p:spPr>
          <a:xfrm>
            <a:off x="10195560" y="402336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pPr algn="r"/>
            <a:r>
              <a:rPr lang="zh-CN" sz="1100" dirty="0">
                <a:solidFill>
                  <a:srgbClr val="2563EB"/>
                </a:solidFill>
                <a:latin typeface="Microsoft YaHei"/>
                <a:ea typeface="Microsoft YaHei"/>
              </a:rPr>
              <a:t>AgentX</a:t>
            </a:r>
            <a:endParaRPr lang="zh-CN"/>
          </a:p>
        </p:txBody>
      </p:sp>
      <p:sp>
        <p:nvSpPr>
          <p:cNvPr id="15" name="TextBox 15"/>
          <p:cNvSpPr txBox="1"/>
          <p:nvPr/>
        </p:nvSpPr>
        <p:spPr>
          <a:xfrm>
            <a:off x="914400" y="1417320"/>
            <a:ext cx="2011680" cy="629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563EB"/>
            </a:solidFill>
          </a:ln>
        </p:spPr>
        <p:txBody>
          <a:bodyPr wrap="square" lIns="91440" tIns="91440" rIns="91440" bIns="91440">
            <a:spAutoFit/>
          </a:bodyPr>
          <a:lstStyle/>
          <a:p>
            <a:pPr algn="ctr"/>
            <a:r>
              <a:rPr lang="zh-CN" sz="1250" dirty="0">
                <a:solidFill>
                  <a:srgbClr val="111827"/>
                </a:solidFill>
                <a:latin typeface="Microsoft YaHei"/>
                <a:ea typeface="Microsoft YaHei"/>
              </a:rPr>
              <a:t>Frontend</a:t>
            </a:r>
            <a:endParaRPr lang="en-US" altLang="zh-CN" sz="1250" dirty="0">
              <a:solidFill>
                <a:srgbClr val="111827"/>
              </a:solidFill>
              <a:latin typeface="Microsoft YaHei"/>
              <a:ea typeface="Microsoft YaHei"/>
            </a:endParaRPr>
          </a:p>
          <a:p>
            <a:pPr algn="ctr"/>
            <a:r>
              <a:rPr lang="zh-CN" sz="1250" dirty="0">
                <a:solidFill>
                  <a:srgbClr val="111827"/>
                </a:solidFill>
                <a:latin typeface="Microsoft YaHei"/>
                <a:ea typeface="Microsoft YaHei"/>
              </a:rPr>
              <a:t>Next.js</a:t>
            </a:r>
            <a:endParaRPr lang="zh-CN" dirty="0"/>
          </a:p>
        </p:txBody>
      </p:sp>
      <p:sp>
        <p:nvSpPr>
          <p:cNvPr id="16" name="TextBox 16"/>
          <p:cNvSpPr txBox="1"/>
          <p:nvPr/>
        </p:nvSpPr>
        <p:spPr>
          <a:xfrm>
            <a:off x="914400" y="2634405"/>
            <a:ext cx="2011680" cy="629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7C3AED"/>
            </a:solidFill>
          </a:ln>
        </p:spPr>
        <p:txBody>
          <a:bodyPr wrap="square" lIns="91440" tIns="91440" rIns="91440" bIns="91440">
            <a:spAutoFit/>
          </a:bodyPr>
          <a:lstStyle/>
          <a:p>
            <a:pPr algn="ctr"/>
            <a:r>
              <a:rPr lang="zh-CN" sz="1250" dirty="0">
                <a:solidFill>
                  <a:srgbClr val="111827"/>
                </a:solidFill>
                <a:latin typeface="Microsoft YaHei"/>
                <a:ea typeface="Microsoft YaHei"/>
              </a:rPr>
              <a:t>Backend</a:t>
            </a:r>
            <a:endParaRPr lang="en-US" altLang="zh-CN" sz="1250" dirty="0">
              <a:solidFill>
                <a:srgbClr val="111827"/>
              </a:solidFill>
              <a:latin typeface="Microsoft YaHei"/>
              <a:ea typeface="Microsoft YaHei"/>
            </a:endParaRPr>
          </a:p>
          <a:p>
            <a:pPr algn="ctr"/>
            <a:r>
              <a:rPr lang="zh-CN" sz="1250" dirty="0">
                <a:solidFill>
                  <a:srgbClr val="111827"/>
                </a:solidFill>
                <a:latin typeface="Microsoft YaHei"/>
                <a:ea typeface="Microsoft YaHei"/>
              </a:rPr>
              <a:t>Spring Boot</a:t>
            </a:r>
            <a:endParaRPr lang="zh-CN" dirty="0"/>
          </a:p>
        </p:txBody>
      </p:sp>
      <p:sp>
        <p:nvSpPr>
          <p:cNvPr id="17" name="TextBox 17"/>
          <p:cNvSpPr txBox="1"/>
          <p:nvPr/>
        </p:nvSpPr>
        <p:spPr>
          <a:xfrm>
            <a:off x="3703320" y="1459496"/>
            <a:ext cx="2011680" cy="629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6A34A"/>
            </a:solidFill>
          </a:ln>
        </p:spPr>
        <p:txBody>
          <a:bodyPr wrap="square" lIns="91440" tIns="91440" rIns="91440" bIns="91440">
            <a:spAutoFit/>
          </a:bodyPr>
          <a:lstStyle/>
          <a:p>
            <a:pPr algn="ctr"/>
            <a:r>
              <a:rPr lang="zh-CN" sz="1250" dirty="0">
                <a:solidFill>
                  <a:srgbClr val="111827"/>
                </a:solidFill>
                <a:latin typeface="Microsoft YaHei"/>
                <a:ea typeface="Microsoft YaHei"/>
              </a:rPr>
              <a:t>PostgreSQL</a:t>
            </a:r>
            <a:endParaRPr lang="en-US" altLang="zh-CN" sz="1250" dirty="0">
              <a:solidFill>
                <a:srgbClr val="111827"/>
              </a:solidFill>
              <a:latin typeface="Microsoft YaHei"/>
              <a:ea typeface="Microsoft YaHei"/>
            </a:endParaRPr>
          </a:p>
          <a:p>
            <a:pPr algn="ctr"/>
            <a:r>
              <a:rPr lang="zh-CN" sz="1250" dirty="0">
                <a:solidFill>
                  <a:srgbClr val="111827"/>
                </a:solidFill>
                <a:latin typeface="Microsoft YaHei"/>
                <a:ea typeface="Microsoft YaHei"/>
              </a:rPr>
              <a:t>pgvector</a:t>
            </a:r>
            <a:endParaRPr lang="zh-CN" dirty="0"/>
          </a:p>
        </p:txBody>
      </p:sp>
      <p:sp>
        <p:nvSpPr>
          <p:cNvPr id="18" name="TextBox 18"/>
          <p:cNvSpPr txBox="1"/>
          <p:nvPr/>
        </p:nvSpPr>
        <p:spPr>
          <a:xfrm>
            <a:off x="916172" y="3615921"/>
            <a:ext cx="2011680" cy="822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97316"/>
            </a:solidFill>
          </a:ln>
        </p:spPr>
        <p:txBody>
          <a:bodyPr wrap="square" lIns="91440" tIns="91440" rIns="91440" bIns="91440">
            <a:spAutoFit/>
          </a:bodyPr>
          <a:lstStyle/>
          <a:p>
            <a:pPr algn="ctr"/>
            <a:r>
              <a:rPr lang="zh-CN" sz="1250" dirty="0">
                <a:solidFill>
                  <a:srgbClr val="111827"/>
                </a:solidFill>
                <a:latin typeface="Microsoft YaHei"/>
                <a:ea typeface="Microsoft YaHei"/>
              </a:rPr>
              <a:t>RabbitMQ</a:t>
            </a:r>
            <a:endParaRPr lang="zh-CN"/>
          </a:p>
        </p:txBody>
      </p:sp>
      <p:sp>
        <p:nvSpPr>
          <p:cNvPr id="19" name="TextBox 19"/>
          <p:cNvSpPr txBox="1"/>
          <p:nvPr/>
        </p:nvSpPr>
        <p:spPr>
          <a:xfrm>
            <a:off x="3703320" y="2646700"/>
            <a:ext cx="2011680" cy="822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F766E"/>
            </a:solidFill>
          </a:ln>
        </p:spPr>
        <p:txBody>
          <a:bodyPr wrap="square" lIns="91440" tIns="91440" rIns="91440" bIns="91440">
            <a:spAutoFit/>
          </a:bodyPr>
          <a:lstStyle/>
          <a:p>
            <a:pPr algn="ctr"/>
            <a:r>
              <a:rPr lang="zh-CN" sz="1250" dirty="0">
                <a:solidFill>
                  <a:srgbClr val="111827"/>
                </a:solidFill>
                <a:latin typeface="Microsoft YaHei"/>
                <a:ea typeface="Microsoft YaHei"/>
              </a:rPr>
              <a:t>Storage / Docker</a:t>
            </a:r>
            <a:endParaRPr lang="zh-CN"/>
          </a:p>
        </p:txBody>
      </p:sp>
      <p:sp>
        <p:nvSpPr>
          <p:cNvPr id="24" name="Shape 24"/>
          <p:cNvSpPr/>
          <p:nvPr/>
        </p:nvSpPr>
        <p:spPr>
          <a:xfrm>
            <a:off x="822960" y="4892040"/>
            <a:ext cx="489204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2F0"/>
            </a:solidFill>
          </a:ln>
        </p:spPr>
      </p:sp>
      <p:sp>
        <p:nvSpPr>
          <p:cNvPr id="25" name="Shape 25"/>
          <p:cNvSpPr/>
          <p:nvPr/>
        </p:nvSpPr>
        <p:spPr>
          <a:xfrm>
            <a:off x="822960" y="4892040"/>
            <a:ext cx="73152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024128" y="5001768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r>
              <a:rPr lang="zh-CN" sz="1500" dirty="0">
                <a:solidFill>
                  <a:srgbClr val="111827"/>
                </a:solidFill>
                <a:latin typeface="Microsoft YaHei"/>
                <a:ea typeface="Microsoft YaHei"/>
              </a:rPr>
              <a:t>线上访问</a:t>
            </a:r>
            <a:endParaRPr lang="zh-CN"/>
          </a:p>
        </p:txBody>
      </p:sp>
      <p:sp>
        <p:nvSpPr>
          <p:cNvPr id="27" name="TextBox 27"/>
          <p:cNvSpPr txBox="1"/>
          <p:nvPr/>
        </p:nvSpPr>
        <p:spPr>
          <a:xfrm>
            <a:off x="1024128" y="5394960"/>
            <a:ext cx="4572000" cy="375167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pPr marL="260000" indent="-150000">
              <a:buChar char="•"/>
            </a:pPr>
            <a:r>
              <a:rPr lang="zh-CN" sz="1050" dirty="0">
                <a:solidFill>
                  <a:srgbClr val="64748B"/>
                </a:solidFill>
                <a:latin typeface="Microsoft YaHei"/>
                <a:ea typeface="Microsoft YaHei"/>
              </a:rPr>
              <a:t>https://agent.sakurayuki.me</a:t>
            </a:r>
            <a:endParaRPr lang="zh-CN" dirty="0"/>
          </a:p>
          <a:p>
            <a:pPr marL="260000" indent="-150000">
              <a:lnSpc>
                <a:spcPct val="150000"/>
              </a:lnSpc>
              <a:buChar char="•"/>
            </a:pPr>
            <a:r>
              <a:rPr lang="zh-CN" sz="1050" dirty="0">
                <a:solidFill>
                  <a:srgbClr val="64748B"/>
                </a:solidFill>
                <a:latin typeface="Microsoft YaHei"/>
                <a:ea typeface="Microsoft YaHei"/>
              </a:rPr>
              <a:t>测试账号：test@qq.com / test123</a:t>
            </a:r>
            <a:endParaRPr lang="zh-CN" dirty="0"/>
          </a:p>
        </p:txBody>
      </p:sp>
      <p:cxnSp>
        <p:nvCxnSpPr>
          <p:cNvPr id="32" name="Connector 32"/>
          <p:cNvCxnSpPr/>
          <p:nvPr/>
        </p:nvCxnSpPr>
        <p:spPr>
          <a:xfrm>
            <a:off x="502920" y="6473952"/>
            <a:ext cx="11155680" cy="1"/>
          </a:xfrm>
          <a:prstGeom prst="straightConnector1">
            <a:avLst/>
          </a:prstGeom>
          <a:ln w="9000">
            <a:solidFill>
              <a:srgbClr val="E2E8F0"/>
            </a:solidFill>
          </a:ln>
        </p:spPr>
      </p:cxnSp>
      <p:sp>
        <p:nvSpPr>
          <p:cNvPr id="33" name="TextBox 33"/>
          <p:cNvSpPr txBox="1"/>
          <p:nvPr/>
        </p:nvSpPr>
        <p:spPr>
          <a:xfrm>
            <a:off x="548640" y="6510528"/>
            <a:ext cx="530352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r>
              <a:rPr lang="zh-CN" sz="850" dirty="0">
                <a:solidFill>
                  <a:srgbClr val="64748B"/>
                </a:solidFill>
                <a:latin typeface="Microsoft YaHei"/>
                <a:ea typeface="Microsoft YaHei"/>
              </a:rPr>
              <a:t>基于 Spring Boot 与 Next.js 的智能 Agent 平台设计与实现</a:t>
            </a:r>
            <a:endParaRPr lang="zh-CN"/>
          </a:p>
        </p:txBody>
      </p:sp>
      <p:sp>
        <p:nvSpPr>
          <p:cNvPr id="34" name="TextBox 34"/>
          <p:cNvSpPr txBox="1"/>
          <p:nvPr/>
        </p:nvSpPr>
        <p:spPr>
          <a:xfrm>
            <a:off x="11064240" y="6510528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pPr algn="r"/>
            <a:r>
              <a:rPr lang="zh-CN" sz="850" dirty="0">
                <a:solidFill>
                  <a:srgbClr val="64748B"/>
                </a:solidFill>
                <a:latin typeface="Microsoft YaHei"/>
                <a:ea typeface="Microsoft YaHei"/>
              </a:rPr>
              <a:t>13</a:t>
            </a:r>
            <a:endParaRPr lang="zh-CN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/>
          <p:nvPr/>
        </p:nvSpPr>
        <p:spPr>
          <a:xfrm>
            <a:off x="0" y="0"/>
            <a:ext cx="12192000" cy="201168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502920" y="310896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r>
              <a:rPr lang="zh-CN" sz="2500" dirty="0">
                <a:solidFill>
                  <a:srgbClr val="111827"/>
                </a:solidFill>
                <a:latin typeface="Microsoft YaHei"/>
                <a:ea typeface="Microsoft YaHei"/>
              </a:rPr>
              <a:t>系统运行效果：登录与工作室</a:t>
            </a:r>
            <a:endParaRPr lang="zh-CN"/>
          </a:p>
        </p:txBody>
      </p:sp>
      <p:sp>
        <p:nvSpPr>
          <p:cNvPr id="13" name="TextBox 13"/>
          <p:cNvSpPr txBox="1"/>
          <p:nvPr/>
        </p:nvSpPr>
        <p:spPr>
          <a:xfrm>
            <a:off x="530352" y="768096"/>
            <a:ext cx="9144000" cy="215444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r>
              <a:rPr lang="zh-CN" sz="1400" dirty="0">
                <a:solidFill>
                  <a:srgbClr val="64748B"/>
                </a:solidFill>
                <a:latin typeface="Microsoft YaHei"/>
                <a:ea typeface="Microsoft YaHei"/>
              </a:rPr>
              <a:t>线上环境可直接访问并验证核心用户流程</a:t>
            </a:r>
            <a:endParaRPr lang="zh-CN" sz="1400" dirty="0"/>
          </a:p>
        </p:txBody>
      </p:sp>
      <p:sp>
        <p:nvSpPr>
          <p:cNvPr id="14" name="TextBox 14"/>
          <p:cNvSpPr txBox="1"/>
          <p:nvPr/>
        </p:nvSpPr>
        <p:spPr>
          <a:xfrm>
            <a:off x="10195560" y="402336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pPr algn="r"/>
            <a:r>
              <a:rPr lang="zh-CN" sz="1100" dirty="0">
                <a:solidFill>
                  <a:srgbClr val="2563EB"/>
                </a:solidFill>
                <a:latin typeface="Microsoft YaHei"/>
                <a:ea typeface="Microsoft YaHei"/>
              </a:rPr>
              <a:t>AgentX</a:t>
            </a:r>
            <a:endParaRPr lang="zh-CN"/>
          </a:p>
        </p:txBody>
      </p:sp>
      <p:pic>
        <p:nvPicPr>
          <p:cNvPr id="15" name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824" y="1315618"/>
            <a:ext cx="7242190" cy="3783360"/>
          </a:xfrm>
          <a:prstGeom prst="rect">
            <a:avLst/>
          </a:prstGeom>
          <a:ln w="6350">
            <a:solidFill>
              <a:srgbClr val="D8E2F0"/>
            </a:solidFill>
          </a:ln>
        </p:spPr>
      </p:pic>
      <p:sp>
        <p:nvSpPr>
          <p:cNvPr id="17" name="TextBox 17"/>
          <p:cNvSpPr txBox="1"/>
          <p:nvPr/>
        </p:nvSpPr>
        <p:spPr>
          <a:xfrm>
            <a:off x="822960" y="5303520"/>
            <a:ext cx="10332720" cy="215444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r>
              <a:rPr lang="zh-CN" sz="1400" dirty="0">
                <a:solidFill>
                  <a:srgbClr val="64748B"/>
                </a:solidFill>
                <a:latin typeface="Microsoft YaHei"/>
                <a:ea typeface="Microsoft YaHei"/>
              </a:rPr>
              <a:t>登录页展示系统入口</a:t>
            </a:r>
            <a:endParaRPr lang="zh-CN" dirty="0"/>
          </a:p>
        </p:txBody>
      </p:sp>
      <p:cxnSp>
        <p:nvCxnSpPr>
          <p:cNvPr id="18" name="Connector 18"/>
          <p:cNvCxnSpPr/>
          <p:nvPr/>
        </p:nvCxnSpPr>
        <p:spPr>
          <a:xfrm>
            <a:off x="502920" y="6473952"/>
            <a:ext cx="11155680" cy="1"/>
          </a:xfrm>
          <a:prstGeom prst="straightConnector1">
            <a:avLst/>
          </a:prstGeom>
          <a:ln w="9000">
            <a:solidFill>
              <a:srgbClr val="E2E8F0"/>
            </a:solidFill>
          </a:ln>
        </p:spPr>
      </p:cxnSp>
      <p:sp>
        <p:nvSpPr>
          <p:cNvPr id="19" name="TextBox 19"/>
          <p:cNvSpPr txBox="1"/>
          <p:nvPr/>
        </p:nvSpPr>
        <p:spPr>
          <a:xfrm>
            <a:off x="548640" y="6510528"/>
            <a:ext cx="530352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r>
              <a:rPr lang="zh-CN" sz="850" dirty="0">
                <a:solidFill>
                  <a:srgbClr val="64748B"/>
                </a:solidFill>
                <a:latin typeface="Microsoft YaHei"/>
                <a:ea typeface="Microsoft YaHei"/>
              </a:rPr>
              <a:t>基于 Spring Boot 与 Next.js 的智能 Agent 平台设计与实现</a:t>
            </a:r>
            <a:endParaRPr lang="zh-CN"/>
          </a:p>
        </p:txBody>
      </p:sp>
      <p:sp>
        <p:nvSpPr>
          <p:cNvPr id="20" name="TextBox 20"/>
          <p:cNvSpPr txBox="1"/>
          <p:nvPr/>
        </p:nvSpPr>
        <p:spPr>
          <a:xfrm>
            <a:off x="11064240" y="6510528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pPr algn="r"/>
            <a:r>
              <a:rPr lang="zh-CN" sz="850" dirty="0">
                <a:solidFill>
                  <a:srgbClr val="64748B"/>
                </a:solidFill>
                <a:latin typeface="Microsoft YaHei"/>
                <a:ea typeface="Microsoft YaHei"/>
              </a:rPr>
              <a:t>14</a:t>
            </a:r>
            <a:endParaRPr lang="zh-CN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E59BE-A3F1-2F06-AD98-4DC666D98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>
            <a:extLst>
              <a:ext uri="{FF2B5EF4-FFF2-40B4-BE49-F238E27FC236}">
                <a16:creationId xmlns:a16="http://schemas.microsoft.com/office/drawing/2014/main" id="{77972702-4AC1-CC2B-6D92-C37E50695CC3}"/>
              </a:ext>
            </a:extLst>
          </p:cNvPr>
          <p:cNvSpPr/>
          <p:nvPr/>
        </p:nvSpPr>
        <p:spPr>
          <a:xfrm>
            <a:off x="0" y="0"/>
            <a:ext cx="12192000" cy="201168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5A6F6AAC-E116-4E0F-1A16-BB28EEDF1BA2}"/>
              </a:ext>
            </a:extLst>
          </p:cNvPr>
          <p:cNvSpPr txBox="1"/>
          <p:nvPr/>
        </p:nvSpPr>
        <p:spPr>
          <a:xfrm>
            <a:off x="502920" y="310896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r>
              <a:rPr lang="zh-CN" sz="2500" dirty="0">
                <a:solidFill>
                  <a:srgbClr val="111827"/>
                </a:solidFill>
                <a:latin typeface="Microsoft YaHei"/>
                <a:ea typeface="Microsoft YaHei"/>
              </a:rPr>
              <a:t>系统运行效果：登录与工作室</a:t>
            </a:r>
            <a:endParaRPr lang="zh-CN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520A3744-00F3-6536-4CD9-068473250B15}"/>
              </a:ext>
            </a:extLst>
          </p:cNvPr>
          <p:cNvSpPr txBox="1"/>
          <p:nvPr/>
        </p:nvSpPr>
        <p:spPr>
          <a:xfrm>
            <a:off x="530352" y="768096"/>
            <a:ext cx="9144000" cy="215444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r>
              <a:rPr lang="zh-CN" sz="1400" dirty="0">
                <a:solidFill>
                  <a:srgbClr val="64748B"/>
                </a:solidFill>
                <a:latin typeface="Microsoft YaHei"/>
                <a:ea typeface="Microsoft YaHei"/>
              </a:rPr>
              <a:t>线上环境可直接访问并验证核心用户流程</a:t>
            </a:r>
            <a:endParaRPr lang="zh-CN" sz="1400" dirty="0"/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1552DCE4-A201-A3BB-3B9F-D5321C085101}"/>
              </a:ext>
            </a:extLst>
          </p:cNvPr>
          <p:cNvSpPr txBox="1"/>
          <p:nvPr/>
        </p:nvSpPr>
        <p:spPr>
          <a:xfrm>
            <a:off x="10195560" y="402336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pPr algn="r"/>
            <a:r>
              <a:rPr lang="zh-CN" sz="1100" dirty="0">
                <a:solidFill>
                  <a:srgbClr val="2563EB"/>
                </a:solidFill>
                <a:latin typeface="Microsoft YaHei"/>
                <a:ea typeface="Microsoft YaHei"/>
              </a:rPr>
              <a:t>AgentX</a:t>
            </a:r>
            <a:endParaRPr lang="zh-CN"/>
          </a:p>
        </p:txBody>
      </p:sp>
      <p:pic>
        <p:nvPicPr>
          <p:cNvPr id="16" name="image3.png">
            <a:extLst>
              <a:ext uri="{FF2B5EF4-FFF2-40B4-BE49-F238E27FC236}">
                <a16:creationId xmlns:a16="http://schemas.microsoft.com/office/drawing/2014/main" id="{7757AFFD-2849-DAEF-0AA5-080E97DB03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1417721"/>
            <a:ext cx="6967161" cy="3625432"/>
          </a:xfrm>
          <a:prstGeom prst="rect">
            <a:avLst/>
          </a:prstGeom>
          <a:ln w="6350">
            <a:solidFill>
              <a:srgbClr val="D8E2F0"/>
            </a:solidFill>
          </a:ln>
        </p:spPr>
      </p:pic>
      <p:sp>
        <p:nvSpPr>
          <p:cNvPr id="17" name="TextBox 17">
            <a:extLst>
              <a:ext uri="{FF2B5EF4-FFF2-40B4-BE49-F238E27FC236}">
                <a16:creationId xmlns:a16="http://schemas.microsoft.com/office/drawing/2014/main" id="{7D88625F-34FB-2307-685D-818C3CC30074}"/>
              </a:ext>
            </a:extLst>
          </p:cNvPr>
          <p:cNvSpPr txBox="1"/>
          <p:nvPr/>
        </p:nvSpPr>
        <p:spPr>
          <a:xfrm>
            <a:off x="822960" y="5303520"/>
            <a:ext cx="10332720" cy="215444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r>
              <a:rPr lang="zh-CN" sz="1400" dirty="0">
                <a:solidFill>
                  <a:srgbClr val="64748B"/>
                </a:solidFill>
                <a:latin typeface="Microsoft YaHei"/>
                <a:ea typeface="Microsoft YaHei"/>
              </a:rPr>
              <a:t>工作室页面展示用户创建和管理 Agent 的主工作区。</a:t>
            </a:r>
            <a:endParaRPr lang="zh-CN" dirty="0"/>
          </a:p>
        </p:txBody>
      </p:sp>
      <p:cxnSp>
        <p:nvCxnSpPr>
          <p:cNvPr id="18" name="Connector 18">
            <a:extLst>
              <a:ext uri="{FF2B5EF4-FFF2-40B4-BE49-F238E27FC236}">
                <a16:creationId xmlns:a16="http://schemas.microsoft.com/office/drawing/2014/main" id="{43C76C48-6A96-0941-4930-0EC68256DA8A}"/>
              </a:ext>
            </a:extLst>
          </p:cNvPr>
          <p:cNvCxnSpPr/>
          <p:nvPr/>
        </p:nvCxnSpPr>
        <p:spPr>
          <a:xfrm>
            <a:off x="502920" y="6473952"/>
            <a:ext cx="11155680" cy="1"/>
          </a:xfrm>
          <a:prstGeom prst="straightConnector1">
            <a:avLst/>
          </a:prstGeom>
          <a:ln w="9000">
            <a:solidFill>
              <a:srgbClr val="E2E8F0"/>
            </a:solidFill>
          </a:ln>
        </p:spPr>
      </p:cxnSp>
      <p:sp>
        <p:nvSpPr>
          <p:cNvPr id="19" name="TextBox 19">
            <a:extLst>
              <a:ext uri="{FF2B5EF4-FFF2-40B4-BE49-F238E27FC236}">
                <a16:creationId xmlns:a16="http://schemas.microsoft.com/office/drawing/2014/main" id="{8761DC03-B8A1-E3B6-E3A6-B271CD5D9A09}"/>
              </a:ext>
            </a:extLst>
          </p:cNvPr>
          <p:cNvSpPr txBox="1"/>
          <p:nvPr/>
        </p:nvSpPr>
        <p:spPr>
          <a:xfrm>
            <a:off x="548640" y="6510528"/>
            <a:ext cx="530352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r>
              <a:rPr lang="zh-CN" sz="850" dirty="0">
                <a:solidFill>
                  <a:srgbClr val="64748B"/>
                </a:solidFill>
                <a:latin typeface="Microsoft YaHei"/>
                <a:ea typeface="Microsoft YaHei"/>
              </a:rPr>
              <a:t>基于 Spring Boot 与 Next.js 的智能 Agent 平台设计与实现</a:t>
            </a:r>
            <a:endParaRPr lang="zh-CN"/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418A4C69-B6DB-2A96-62C4-595D4CEBCD95}"/>
              </a:ext>
            </a:extLst>
          </p:cNvPr>
          <p:cNvSpPr txBox="1"/>
          <p:nvPr/>
        </p:nvSpPr>
        <p:spPr>
          <a:xfrm>
            <a:off x="11064240" y="6510528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pPr algn="r"/>
            <a:r>
              <a:rPr lang="zh-CN" sz="850" dirty="0">
                <a:solidFill>
                  <a:srgbClr val="64748B"/>
                </a:solidFill>
                <a:latin typeface="Microsoft YaHei"/>
                <a:ea typeface="Microsoft YaHei"/>
              </a:rPr>
              <a:t>14</a:t>
            </a:r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34023066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/>
          <p:nvPr/>
        </p:nvSpPr>
        <p:spPr>
          <a:xfrm>
            <a:off x="0" y="0"/>
            <a:ext cx="12192000" cy="201168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502920" y="310896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r>
              <a:rPr lang="zh-CN" sz="2500" dirty="0">
                <a:solidFill>
                  <a:srgbClr val="111827"/>
                </a:solidFill>
                <a:latin typeface="Microsoft YaHei"/>
                <a:ea typeface="Microsoft YaHei"/>
              </a:rPr>
              <a:t>系统运行效果：知识库与工具中心</a:t>
            </a:r>
            <a:endParaRPr lang="zh-CN"/>
          </a:p>
        </p:txBody>
      </p:sp>
      <p:sp>
        <p:nvSpPr>
          <p:cNvPr id="13" name="TextBox 13"/>
          <p:cNvSpPr txBox="1"/>
          <p:nvPr/>
        </p:nvSpPr>
        <p:spPr>
          <a:xfrm>
            <a:off x="530352" y="768096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r>
              <a:rPr lang="zh-CN" sz="1150" dirty="0">
                <a:solidFill>
                  <a:srgbClr val="64748B"/>
                </a:solidFill>
                <a:latin typeface="Microsoft YaHei"/>
                <a:ea typeface="Microsoft YaHei"/>
              </a:rPr>
              <a:t>RAG 与工具市场共同构成 Agent 的外部能力来源</a:t>
            </a:r>
            <a:endParaRPr lang="zh-CN"/>
          </a:p>
        </p:txBody>
      </p:sp>
      <p:sp>
        <p:nvSpPr>
          <p:cNvPr id="14" name="TextBox 14"/>
          <p:cNvSpPr txBox="1"/>
          <p:nvPr/>
        </p:nvSpPr>
        <p:spPr>
          <a:xfrm>
            <a:off x="10195560" y="402336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pPr algn="r"/>
            <a:r>
              <a:rPr lang="zh-CN" sz="1100" dirty="0">
                <a:solidFill>
                  <a:srgbClr val="2563EB"/>
                </a:solidFill>
                <a:latin typeface="Microsoft YaHei"/>
                <a:ea typeface="Microsoft YaHei"/>
              </a:rPr>
              <a:t>AgentX</a:t>
            </a:r>
            <a:endParaRPr lang="zh-CN"/>
          </a:p>
        </p:txBody>
      </p:sp>
      <p:pic>
        <p:nvPicPr>
          <p:cNvPr id="15" name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675" y="1156156"/>
            <a:ext cx="7391046" cy="3833361"/>
          </a:xfrm>
          <a:prstGeom prst="rect">
            <a:avLst/>
          </a:prstGeom>
          <a:ln w="6350">
            <a:solidFill>
              <a:srgbClr val="D8E2F0"/>
            </a:solidFill>
          </a:ln>
        </p:spPr>
      </p:pic>
      <p:sp>
        <p:nvSpPr>
          <p:cNvPr id="17" name="TextBox 17"/>
          <p:cNvSpPr txBox="1"/>
          <p:nvPr/>
        </p:nvSpPr>
        <p:spPr>
          <a:xfrm>
            <a:off x="822960" y="5303520"/>
            <a:ext cx="10332720" cy="215444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r>
              <a:rPr lang="zh-CN" sz="1400" dirty="0">
                <a:solidFill>
                  <a:srgbClr val="64748B"/>
                </a:solidFill>
                <a:latin typeface="Microsoft YaHei"/>
                <a:ea typeface="Microsoft YaHei"/>
              </a:rPr>
              <a:t>知识库支持 RAG 数据集管理</a:t>
            </a:r>
            <a:endParaRPr lang="zh-CN" dirty="0"/>
          </a:p>
        </p:txBody>
      </p:sp>
      <p:cxnSp>
        <p:nvCxnSpPr>
          <p:cNvPr id="18" name="Connector 18"/>
          <p:cNvCxnSpPr/>
          <p:nvPr/>
        </p:nvCxnSpPr>
        <p:spPr>
          <a:xfrm>
            <a:off x="502920" y="6473952"/>
            <a:ext cx="11155680" cy="1"/>
          </a:xfrm>
          <a:prstGeom prst="straightConnector1">
            <a:avLst/>
          </a:prstGeom>
          <a:ln w="9000">
            <a:solidFill>
              <a:srgbClr val="E2E8F0"/>
            </a:solidFill>
          </a:ln>
        </p:spPr>
      </p:cxnSp>
      <p:sp>
        <p:nvSpPr>
          <p:cNvPr id="19" name="TextBox 19"/>
          <p:cNvSpPr txBox="1"/>
          <p:nvPr/>
        </p:nvSpPr>
        <p:spPr>
          <a:xfrm>
            <a:off x="548640" y="6510528"/>
            <a:ext cx="530352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r>
              <a:rPr lang="zh-CN" sz="850" dirty="0">
                <a:solidFill>
                  <a:srgbClr val="64748B"/>
                </a:solidFill>
                <a:latin typeface="Microsoft YaHei"/>
                <a:ea typeface="Microsoft YaHei"/>
              </a:rPr>
              <a:t>基于 Spring Boot 与 Next.js 的智能 Agent 平台设计与实现</a:t>
            </a:r>
            <a:endParaRPr lang="zh-CN"/>
          </a:p>
        </p:txBody>
      </p:sp>
      <p:sp>
        <p:nvSpPr>
          <p:cNvPr id="20" name="TextBox 20"/>
          <p:cNvSpPr txBox="1"/>
          <p:nvPr/>
        </p:nvSpPr>
        <p:spPr>
          <a:xfrm>
            <a:off x="11064240" y="6510528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pPr algn="r"/>
            <a:r>
              <a:rPr lang="zh-CN" sz="850" dirty="0">
                <a:solidFill>
                  <a:srgbClr val="64748B"/>
                </a:solidFill>
                <a:latin typeface="Microsoft YaHei"/>
                <a:ea typeface="Microsoft YaHei"/>
              </a:rPr>
              <a:t>15</a:t>
            </a:r>
            <a:endParaRPr lang="zh-CN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11B1D-64E9-1053-F982-3583984AB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>
            <a:extLst>
              <a:ext uri="{FF2B5EF4-FFF2-40B4-BE49-F238E27FC236}">
                <a16:creationId xmlns:a16="http://schemas.microsoft.com/office/drawing/2014/main" id="{306C4584-20C8-F336-412C-A5954FF95E39}"/>
              </a:ext>
            </a:extLst>
          </p:cNvPr>
          <p:cNvSpPr/>
          <p:nvPr/>
        </p:nvSpPr>
        <p:spPr>
          <a:xfrm>
            <a:off x="0" y="0"/>
            <a:ext cx="12192000" cy="201168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89BC8203-83DF-E453-ADD8-17C6EF107A0E}"/>
              </a:ext>
            </a:extLst>
          </p:cNvPr>
          <p:cNvSpPr txBox="1"/>
          <p:nvPr/>
        </p:nvSpPr>
        <p:spPr>
          <a:xfrm>
            <a:off x="502920" y="310896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r>
              <a:rPr lang="zh-CN" sz="2500" dirty="0">
                <a:solidFill>
                  <a:srgbClr val="111827"/>
                </a:solidFill>
                <a:latin typeface="Microsoft YaHei"/>
                <a:ea typeface="Microsoft YaHei"/>
              </a:rPr>
              <a:t>系统运行效果：知识库与工具中心</a:t>
            </a:r>
            <a:endParaRPr lang="zh-CN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DFED8A6D-2D46-2D3D-E4EE-661DB5562F91}"/>
              </a:ext>
            </a:extLst>
          </p:cNvPr>
          <p:cNvSpPr txBox="1"/>
          <p:nvPr/>
        </p:nvSpPr>
        <p:spPr>
          <a:xfrm>
            <a:off x="530352" y="768096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r>
              <a:rPr lang="zh-CN" sz="1150" dirty="0">
                <a:solidFill>
                  <a:srgbClr val="64748B"/>
                </a:solidFill>
                <a:latin typeface="Microsoft YaHei"/>
                <a:ea typeface="Microsoft YaHei"/>
              </a:rPr>
              <a:t>RAG 与工具市场共同构成 Agent 的外部能力来源</a:t>
            </a:r>
            <a:endParaRPr lang="zh-CN"/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99C1568-2C8C-5106-A9CE-8B00DA1C0D68}"/>
              </a:ext>
            </a:extLst>
          </p:cNvPr>
          <p:cNvSpPr txBox="1"/>
          <p:nvPr/>
        </p:nvSpPr>
        <p:spPr>
          <a:xfrm>
            <a:off x="10195560" y="402336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pPr algn="r"/>
            <a:r>
              <a:rPr lang="zh-CN" sz="1100" dirty="0">
                <a:solidFill>
                  <a:srgbClr val="2563EB"/>
                </a:solidFill>
                <a:latin typeface="Microsoft YaHei"/>
                <a:ea typeface="Microsoft YaHei"/>
              </a:rPr>
              <a:t>AgentX</a:t>
            </a:r>
            <a:endParaRPr lang="zh-CN"/>
          </a:p>
        </p:txBody>
      </p:sp>
      <p:pic>
        <p:nvPicPr>
          <p:cNvPr id="16" name="image5.png">
            <a:extLst>
              <a:ext uri="{FF2B5EF4-FFF2-40B4-BE49-F238E27FC236}">
                <a16:creationId xmlns:a16="http://schemas.microsoft.com/office/drawing/2014/main" id="{E82ACB7B-852F-D60C-75AC-0423F6DFDA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093" y="998827"/>
            <a:ext cx="8082517" cy="4179515"/>
          </a:xfrm>
          <a:prstGeom prst="rect">
            <a:avLst/>
          </a:prstGeom>
          <a:ln w="6350">
            <a:solidFill>
              <a:srgbClr val="D8E2F0"/>
            </a:solidFill>
          </a:ln>
        </p:spPr>
      </p:pic>
      <p:sp>
        <p:nvSpPr>
          <p:cNvPr id="17" name="TextBox 17">
            <a:extLst>
              <a:ext uri="{FF2B5EF4-FFF2-40B4-BE49-F238E27FC236}">
                <a16:creationId xmlns:a16="http://schemas.microsoft.com/office/drawing/2014/main" id="{6DB234DC-5752-6003-1560-105AE2127209}"/>
              </a:ext>
            </a:extLst>
          </p:cNvPr>
          <p:cNvSpPr txBox="1"/>
          <p:nvPr/>
        </p:nvSpPr>
        <p:spPr>
          <a:xfrm>
            <a:off x="822960" y="5303520"/>
            <a:ext cx="10332720" cy="215444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r>
              <a:rPr lang="zh-CN" sz="1400" dirty="0">
                <a:solidFill>
                  <a:srgbClr val="64748B"/>
                </a:solidFill>
                <a:latin typeface="Microsoft YaHei"/>
                <a:ea typeface="Microsoft YaHei"/>
              </a:rPr>
              <a:t>工具中心支持 MCP 工具创建与安装。</a:t>
            </a:r>
            <a:endParaRPr lang="zh-CN" dirty="0"/>
          </a:p>
        </p:txBody>
      </p:sp>
      <p:cxnSp>
        <p:nvCxnSpPr>
          <p:cNvPr id="18" name="Connector 18">
            <a:extLst>
              <a:ext uri="{FF2B5EF4-FFF2-40B4-BE49-F238E27FC236}">
                <a16:creationId xmlns:a16="http://schemas.microsoft.com/office/drawing/2014/main" id="{FCDC3992-5BC9-9710-30DF-2B60708B6179}"/>
              </a:ext>
            </a:extLst>
          </p:cNvPr>
          <p:cNvCxnSpPr/>
          <p:nvPr/>
        </p:nvCxnSpPr>
        <p:spPr>
          <a:xfrm>
            <a:off x="502920" y="6473952"/>
            <a:ext cx="11155680" cy="1"/>
          </a:xfrm>
          <a:prstGeom prst="straightConnector1">
            <a:avLst/>
          </a:prstGeom>
          <a:ln w="9000">
            <a:solidFill>
              <a:srgbClr val="E2E8F0"/>
            </a:solidFill>
          </a:ln>
        </p:spPr>
      </p:cxnSp>
      <p:sp>
        <p:nvSpPr>
          <p:cNvPr id="19" name="TextBox 19">
            <a:extLst>
              <a:ext uri="{FF2B5EF4-FFF2-40B4-BE49-F238E27FC236}">
                <a16:creationId xmlns:a16="http://schemas.microsoft.com/office/drawing/2014/main" id="{A4F5A766-24CF-E4D5-63BD-85C0C122EC9C}"/>
              </a:ext>
            </a:extLst>
          </p:cNvPr>
          <p:cNvSpPr txBox="1"/>
          <p:nvPr/>
        </p:nvSpPr>
        <p:spPr>
          <a:xfrm>
            <a:off x="548640" y="6510528"/>
            <a:ext cx="530352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r>
              <a:rPr lang="zh-CN" sz="850" dirty="0">
                <a:solidFill>
                  <a:srgbClr val="64748B"/>
                </a:solidFill>
                <a:latin typeface="Microsoft YaHei"/>
                <a:ea typeface="Microsoft YaHei"/>
              </a:rPr>
              <a:t>基于 Spring Boot 与 Next.js 的智能 Agent 平台设计与实现</a:t>
            </a:r>
            <a:endParaRPr lang="zh-CN"/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84743F99-467E-9D3D-A641-CE4F4A6F8B75}"/>
              </a:ext>
            </a:extLst>
          </p:cNvPr>
          <p:cNvSpPr txBox="1"/>
          <p:nvPr/>
        </p:nvSpPr>
        <p:spPr>
          <a:xfrm>
            <a:off x="11064240" y="6510528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pPr algn="r"/>
            <a:r>
              <a:rPr lang="zh-CN" sz="850" dirty="0">
                <a:solidFill>
                  <a:srgbClr val="64748B"/>
                </a:solidFill>
                <a:latin typeface="Microsoft YaHei"/>
                <a:ea typeface="Microsoft YaHei"/>
              </a:rPr>
              <a:t>15</a:t>
            </a:r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18759846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/>
          <p:nvPr/>
        </p:nvSpPr>
        <p:spPr>
          <a:xfrm>
            <a:off x="0" y="0"/>
            <a:ext cx="12192000" cy="201168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502920" y="310896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r>
              <a:rPr lang="zh-CN" sz="2500" dirty="0">
                <a:solidFill>
                  <a:srgbClr val="111827"/>
                </a:solidFill>
                <a:latin typeface="Microsoft YaHei"/>
                <a:ea typeface="Microsoft YaHei"/>
              </a:rPr>
              <a:t>系统运行效果：记忆与执行追踪</a:t>
            </a:r>
            <a:endParaRPr lang="zh-CN"/>
          </a:p>
        </p:txBody>
      </p:sp>
      <p:sp>
        <p:nvSpPr>
          <p:cNvPr id="13" name="TextBox 13"/>
          <p:cNvSpPr txBox="1"/>
          <p:nvPr/>
        </p:nvSpPr>
        <p:spPr>
          <a:xfrm>
            <a:off x="530352" y="768096"/>
            <a:ext cx="9144000" cy="215444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r>
              <a:rPr lang="zh-CN" sz="1400" dirty="0">
                <a:solidFill>
                  <a:srgbClr val="64748B"/>
                </a:solidFill>
                <a:latin typeface="Microsoft YaHei"/>
                <a:ea typeface="Microsoft YaHei"/>
              </a:rPr>
              <a:t>从“能对话”进一步走向“可观察、可分析、可持续优化”</a:t>
            </a:r>
            <a:endParaRPr lang="zh-CN" sz="1400" dirty="0"/>
          </a:p>
        </p:txBody>
      </p:sp>
      <p:sp>
        <p:nvSpPr>
          <p:cNvPr id="14" name="TextBox 14"/>
          <p:cNvSpPr txBox="1"/>
          <p:nvPr/>
        </p:nvSpPr>
        <p:spPr>
          <a:xfrm>
            <a:off x="10195560" y="402336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pPr algn="r"/>
            <a:r>
              <a:rPr lang="zh-CN" sz="1100" dirty="0">
                <a:solidFill>
                  <a:srgbClr val="2563EB"/>
                </a:solidFill>
                <a:latin typeface="Microsoft YaHei"/>
                <a:ea typeface="Microsoft YaHei"/>
              </a:rPr>
              <a:t>AgentX</a:t>
            </a:r>
            <a:endParaRPr lang="zh-CN"/>
          </a:p>
        </p:txBody>
      </p:sp>
      <p:sp>
        <p:nvSpPr>
          <p:cNvPr id="17" name="TextBox 17"/>
          <p:cNvSpPr txBox="1"/>
          <p:nvPr/>
        </p:nvSpPr>
        <p:spPr>
          <a:xfrm>
            <a:off x="822960" y="5303520"/>
            <a:ext cx="1033272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r>
              <a:rPr lang="zh-CN" sz="1400" dirty="0">
                <a:solidFill>
                  <a:srgbClr val="64748B"/>
                </a:solidFill>
                <a:latin typeface="Microsoft YaHei"/>
                <a:ea typeface="Microsoft YaHei"/>
              </a:rPr>
              <a:t>记忆管理用于长期上下文，执行追踪用于观察 Agent 成功率、Token 数和工具调用情况。</a:t>
            </a:r>
            <a:endParaRPr lang="zh-CN"/>
          </a:p>
        </p:txBody>
      </p:sp>
      <p:cxnSp>
        <p:nvCxnSpPr>
          <p:cNvPr id="18" name="Connector 18"/>
          <p:cNvCxnSpPr/>
          <p:nvPr/>
        </p:nvCxnSpPr>
        <p:spPr>
          <a:xfrm>
            <a:off x="502920" y="6473952"/>
            <a:ext cx="11155680" cy="1"/>
          </a:xfrm>
          <a:prstGeom prst="straightConnector1">
            <a:avLst/>
          </a:prstGeom>
          <a:ln w="9000">
            <a:solidFill>
              <a:srgbClr val="E2E8F0"/>
            </a:solidFill>
          </a:ln>
        </p:spPr>
      </p:cxnSp>
      <p:sp>
        <p:nvSpPr>
          <p:cNvPr id="19" name="TextBox 19"/>
          <p:cNvSpPr txBox="1"/>
          <p:nvPr/>
        </p:nvSpPr>
        <p:spPr>
          <a:xfrm>
            <a:off x="548640" y="6510528"/>
            <a:ext cx="530352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r>
              <a:rPr lang="zh-CN" sz="850" dirty="0">
                <a:solidFill>
                  <a:srgbClr val="64748B"/>
                </a:solidFill>
                <a:latin typeface="Microsoft YaHei"/>
                <a:ea typeface="Microsoft YaHei"/>
              </a:rPr>
              <a:t>基于 Spring Boot 与 Next.js 的智能 Agent 平台设计与实现</a:t>
            </a:r>
            <a:endParaRPr lang="zh-CN"/>
          </a:p>
        </p:txBody>
      </p:sp>
      <p:sp>
        <p:nvSpPr>
          <p:cNvPr id="20" name="TextBox 20"/>
          <p:cNvSpPr txBox="1"/>
          <p:nvPr/>
        </p:nvSpPr>
        <p:spPr>
          <a:xfrm>
            <a:off x="11064240" y="6510528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pPr algn="r"/>
            <a:r>
              <a:rPr lang="zh-CN" sz="850" dirty="0">
                <a:solidFill>
                  <a:srgbClr val="64748B"/>
                </a:solidFill>
                <a:latin typeface="Microsoft YaHei"/>
                <a:ea typeface="Microsoft YaHei"/>
              </a:rPr>
              <a:t>16</a:t>
            </a:r>
            <a:endParaRPr lang="zh-CN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F9B00A47-F32B-F66E-F7C1-2D24FAC85B0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8967"/>
          <a:stretch>
            <a:fillRect/>
          </a:stretch>
        </p:blipFill>
        <p:spPr bwMode="auto">
          <a:xfrm>
            <a:off x="601499" y="1249679"/>
            <a:ext cx="9433117" cy="337902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46151-0A2D-614E-8D55-D123C19F0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>
            <a:extLst>
              <a:ext uri="{FF2B5EF4-FFF2-40B4-BE49-F238E27FC236}">
                <a16:creationId xmlns:a16="http://schemas.microsoft.com/office/drawing/2014/main" id="{B0C32747-EEE8-3A97-889E-F358076CA29F}"/>
              </a:ext>
            </a:extLst>
          </p:cNvPr>
          <p:cNvSpPr/>
          <p:nvPr/>
        </p:nvSpPr>
        <p:spPr>
          <a:xfrm>
            <a:off x="0" y="0"/>
            <a:ext cx="12192000" cy="201168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3569ABF8-5BE3-93F9-C4AF-6DBB686CC002}"/>
              </a:ext>
            </a:extLst>
          </p:cNvPr>
          <p:cNvSpPr txBox="1"/>
          <p:nvPr/>
        </p:nvSpPr>
        <p:spPr>
          <a:xfrm>
            <a:off x="502920" y="310896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r>
              <a:rPr lang="zh-CN" sz="2500" dirty="0">
                <a:solidFill>
                  <a:srgbClr val="111827"/>
                </a:solidFill>
                <a:latin typeface="Microsoft YaHei"/>
                <a:ea typeface="Microsoft YaHei"/>
              </a:rPr>
              <a:t>系统运行效果：记忆与执行追踪</a:t>
            </a:r>
            <a:endParaRPr lang="zh-CN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307979D5-0124-4B3D-736D-991E945C9BA2}"/>
              </a:ext>
            </a:extLst>
          </p:cNvPr>
          <p:cNvSpPr txBox="1"/>
          <p:nvPr/>
        </p:nvSpPr>
        <p:spPr>
          <a:xfrm>
            <a:off x="530352" y="768096"/>
            <a:ext cx="9144000" cy="215444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r>
              <a:rPr lang="zh-CN" sz="1400" dirty="0">
                <a:solidFill>
                  <a:srgbClr val="64748B"/>
                </a:solidFill>
                <a:latin typeface="Microsoft YaHei"/>
                <a:ea typeface="Microsoft YaHei"/>
              </a:rPr>
              <a:t>从“能对话”进一步走向“可观察、可分析、可持续优化”</a:t>
            </a:r>
            <a:endParaRPr lang="zh-CN" sz="1400" dirty="0"/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455FCD00-D0CF-D837-3A6A-FF1AC02732C9}"/>
              </a:ext>
            </a:extLst>
          </p:cNvPr>
          <p:cNvSpPr txBox="1"/>
          <p:nvPr/>
        </p:nvSpPr>
        <p:spPr>
          <a:xfrm>
            <a:off x="10195560" y="402336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pPr algn="r"/>
            <a:r>
              <a:rPr lang="zh-CN" sz="1100" dirty="0">
                <a:solidFill>
                  <a:srgbClr val="2563EB"/>
                </a:solidFill>
                <a:latin typeface="Microsoft YaHei"/>
                <a:ea typeface="Microsoft YaHei"/>
              </a:rPr>
              <a:t>AgentX</a:t>
            </a:r>
            <a:endParaRPr lang="zh-CN"/>
          </a:p>
        </p:txBody>
      </p:sp>
      <p:pic>
        <p:nvPicPr>
          <p:cNvPr id="16" name="image15.png">
            <a:extLst>
              <a:ext uri="{FF2B5EF4-FFF2-40B4-BE49-F238E27FC236}">
                <a16:creationId xmlns:a16="http://schemas.microsoft.com/office/drawing/2014/main" id="{232C3BBA-1481-BD77-B0E3-3BAEF095B3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479" y="1228767"/>
            <a:ext cx="7649771" cy="3986330"/>
          </a:xfrm>
          <a:prstGeom prst="rect">
            <a:avLst/>
          </a:prstGeom>
          <a:ln w="6350">
            <a:solidFill>
              <a:srgbClr val="D8E2F0"/>
            </a:solidFill>
          </a:ln>
        </p:spPr>
      </p:pic>
      <p:sp>
        <p:nvSpPr>
          <p:cNvPr id="17" name="TextBox 17">
            <a:extLst>
              <a:ext uri="{FF2B5EF4-FFF2-40B4-BE49-F238E27FC236}">
                <a16:creationId xmlns:a16="http://schemas.microsoft.com/office/drawing/2014/main" id="{1AC2C8CA-15EA-BA3D-C109-EE444D4DA7B8}"/>
              </a:ext>
            </a:extLst>
          </p:cNvPr>
          <p:cNvSpPr txBox="1"/>
          <p:nvPr/>
        </p:nvSpPr>
        <p:spPr>
          <a:xfrm>
            <a:off x="731520" y="5541264"/>
            <a:ext cx="1033272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r>
              <a:rPr lang="zh-CN" sz="1400" dirty="0">
                <a:solidFill>
                  <a:srgbClr val="64748B"/>
                </a:solidFill>
                <a:latin typeface="Microsoft YaHei"/>
                <a:ea typeface="Microsoft YaHei"/>
              </a:rPr>
              <a:t>记忆管理用于长期上下文，执行追踪用于观察 Agent 成功率、Token 数和工具调用情况。</a:t>
            </a:r>
            <a:endParaRPr lang="zh-CN" dirty="0"/>
          </a:p>
        </p:txBody>
      </p:sp>
      <p:cxnSp>
        <p:nvCxnSpPr>
          <p:cNvPr id="18" name="Connector 18">
            <a:extLst>
              <a:ext uri="{FF2B5EF4-FFF2-40B4-BE49-F238E27FC236}">
                <a16:creationId xmlns:a16="http://schemas.microsoft.com/office/drawing/2014/main" id="{4D648C18-CD5E-0836-2808-F3E109CF91F8}"/>
              </a:ext>
            </a:extLst>
          </p:cNvPr>
          <p:cNvCxnSpPr/>
          <p:nvPr/>
        </p:nvCxnSpPr>
        <p:spPr>
          <a:xfrm>
            <a:off x="502920" y="6473952"/>
            <a:ext cx="11155680" cy="1"/>
          </a:xfrm>
          <a:prstGeom prst="straightConnector1">
            <a:avLst/>
          </a:prstGeom>
          <a:ln w="9000">
            <a:solidFill>
              <a:srgbClr val="E2E8F0"/>
            </a:solidFill>
          </a:ln>
        </p:spPr>
      </p:cxnSp>
      <p:sp>
        <p:nvSpPr>
          <p:cNvPr id="19" name="TextBox 19">
            <a:extLst>
              <a:ext uri="{FF2B5EF4-FFF2-40B4-BE49-F238E27FC236}">
                <a16:creationId xmlns:a16="http://schemas.microsoft.com/office/drawing/2014/main" id="{FE35585B-4FD7-F47B-4160-8A8058C68CB5}"/>
              </a:ext>
            </a:extLst>
          </p:cNvPr>
          <p:cNvSpPr txBox="1"/>
          <p:nvPr/>
        </p:nvSpPr>
        <p:spPr>
          <a:xfrm>
            <a:off x="548640" y="6510528"/>
            <a:ext cx="530352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r>
              <a:rPr lang="zh-CN" sz="850" dirty="0">
                <a:solidFill>
                  <a:srgbClr val="64748B"/>
                </a:solidFill>
                <a:latin typeface="Microsoft YaHei"/>
                <a:ea typeface="Microsoft YaHei"/>
              </a:rPr>
              <a:t>基于 Spring Boot 与 Next.js 的智能 Agent 平台设计与实现</a:t>
            </a:r>
            <a:endParaRPr lang="zh-CN"/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D6483237-D1AD-8706-9EAD-F31B16562D6F}"/>
              </a:ext>
            </a:extLst>
          </p:cNvPr>
          <p:cNvSpPr txBox="1"/>
          <p:nvPr/>
        </p:nvSpPr>
        <p:spPr>
          <a:xfrm>
            <a:off x="11064240" y="6510528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pPr algn="r"/>
            <a:r>
              <a:rPr lang="zh-CN" sz="850" dirty="0">
                <a:solidFill>
                  <a:srgbClr val="64748B"/>
                </a:solidFill>
                <a:latin typeface="Microsoft YaHei"/>
                <a:ea typeface="Microsoft YaHei"/>
              </a:rPr>
              <a:t>16</a:t>
            </a:r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39626812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/>
          <p:nvPr/>
        </p:nvSpPr>
        <p:spPr>
          <a:xfrm>
            <a:off x="0" y="0"/>
            <a:ext cx="12192000" cy="201168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502920" y="310896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r>
              <a:rPr lang="zh-CN" sz="2500" dirty="0">
                <a:solidFill>
                  <a:srgbClr val="111827"/>
                </a:solidFill>
                <a:latin typeface="Microsoft YaHei"/>
                <a:ea typeface="Microsoft YaHei"/>
              </a:rPr>
              <a:t>系统运行效果：管理后台与平台治理</a:t>
            </a:r>
            <a:endParaRPr lang="zh-CN"/>
          </a:p>
        </p:txBody>
      </p:sp>
      <p:sp>
        <p:nvSpPr>
          <p:cNvPr id="13" name="TextBox 13"/>
          <p:cNvSpPr txBox="1"/>
          <p:nvPr/>
        </p:nvSpPr>
        <p:spPr>
          <a:xfrm>
            <a:off x="530352" y="768096"/>
            <a:ext cx="9144000" cy="215444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r>
              <a:rPr lang="zh-CN" sz="1400" dirty="0">
                <a:solidFill>
                  <a:srgbClr val="64748B"/>
                </a:solidFill>
                <a:latin typeface="Microsoft YaHei"/>
                <a:ea typeface="Microsoft YaHei"/>
              </a:rPr>
              <a:t>管理员可维护工具、Agent、RAG、服务商和认证配置</a:t>
            </a:r>
            <a:endParaRPr lang="zh-CN" sz="1400" dirty="0"/>
          </a:p>
        </p:txBody>
      </p:sp>
      <p:sp>
        <p:nvSpPr>
          <p:cNvPr id="14" name="TextBox 14"/>
          <p:cNvSpPr txBox="1"/>
          <p:nvPr/>
        </p:nvSpPr>
        <p:spPr>
          <a:xfrm>
            <a:off x="10195560" y="402336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pPr algn="r"/>
            <a:r>
              <a:rPr lang="zh-CN" sz="1100" dirty="0">
                <a:solidFill>
                  <a:srgbClr val="2563EB"/>
                </a:solidFill>
                <a:latin typeface="Microsoft YaHei"/>
                <a:ea typeface="Microsoft YaHei"/>
              </a:rPr>
              <a:t>AgentX</a:t>
            </a:r>
            <a:endParaRPr lang="zh-CN"/>
          </a:p>
        </p:txBody>
      </p:sp>
      <p:pic>
        <p:nvPicPr>
          <p:cNvPr id="15" name="image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430" y="1166296"/>
            <a:ext cx="7650591" cy="3901890"/>
          </a:xfrm>
          <a:prstGeom prst="rect">
            <a:avLst/>
          </a:prstGeom>
          <a:ln w="6350">
            <a:solidFill>
              <a:srgbClr val="D8E2F0"/>
            </a:solidFill>
          </a:ln>
        </p:spPr>
      </p:pic>
      <p:sp>
        <p:nvSpPr>
          <p:cNvPr id="18" name="TextBox 18"/>
          <p:cNvSpPr txBox="1"/>
          <p:nvPr/>
        </p:nvSpPr>
        <p:spPr>
          <a:xfrm>
            <a:off x="640080" y="5280224"/>
            <a:ext cx="10241280" cy="82296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pPr marL="260000" indent="-150000">
              <a:buChar char="•"/>
            </a:pPr>
            <a:r>
              <a:rPr lang="zh-CN" sz="1500" dirty="0">
                <a:solidFill>
                  <a:srgbClr val="111827"/>
                </a:solidFill>
                <a:latin typeface="Microsoft YaHei"/>
                <a:ea typeface="Microsoft YaHei"/>
              </a:rPr>
              <a:t>管理端让系统具备运营和治理能力，而不只是个人使用工具</a:t>
            </a:r>
            <a:endParaRPr lang="zh-CN" dirty="0"/>
          </a:p>
          <a:p>
            <a:pPr marL="260000" indent="-150000">
              <a:buChar char="•"/>
            </a:pPr>
            <a:r>
              <a:rPr lang="zh-CN" sz="1500" dirty="0">
                <a:solidFill>
                  <a:srgbClr val="111827"/>
                </a:solidFill>
                <a:latin typeface="Microsoft YaHei"/>
                <a:ea typeface="Microsoft YaHei"/>
              </a:rPr>
              <a:t>工具/RAG 审核、服务商管理、认证开关提高平台可控性</a:t>
            </a:r>
            <a:endParaRPr lang="zh-CN" dirty="0"/>
          </a:p>
        </p:txBody>
      </p:sp>
      <p:cxnSp>
        <p:nvCxnSpPr>
          <p:cNvPr id="19" name="Connector 19"/>
          <p:cNvCxnSpPr/>
          <p:nvPr/>
        </p:nvCxnSpPr>
        <p:spPr>
          <a:xfrm>
            <a:off x="502920" y="6473952"/>
            <a:ext cx="11155680" cy="1"/>
          </a:xfrm>
          <a:prstGeom prst="straightConnector1">
            <a:avLst/>
          </a:prstGeom>
          <a:ln w="9000">
            <a:solidFill>
              <a:srgbClr val="E2E8F0"/>
            </a:solidFill>
          </a:ln>
        </p:spPr>
      </p:cxnSp>
      <p:sp>
        <p:nvSpPr>
          <p:cNvPr id="20" name="TextBox 20"/>
          <p:cNvSpPr txBox="1"/>
          <p:nvPr/>
        </p:nvSpPr>
        <p:spPr>
          <a:xfrm>
            <a:off x="548640" y="6510528"/>
            <a:ext cx="530352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r>
              <a:rPr lang="zh-CN" sz="850" dirty="0">
                <a:solidFill>
                  <a:srgbClr val="64748B"/>
                </a:solidFill>
                <a:latin typeface="Microsoft YaHei"/>
                <a:ea typeface="Microsoft YaHei"/>
              </a:rPr>
              <a:t>基于 Spring Boot 与 Next.js 的智能 Agent 平台设计与实现</a:t>
            </a:r>
            <a:endParaRPr lang="zh-CN"/>
          </a:p>
        </p:txBody>
      </p:sp>
      <p:sp>
        <p:nvSpPr>
          <p:cNvPr id="21" name="TextBox 21"/>
          <p:cNvSpPr txBox="1"/>
          <p:nvPr/>
        </p:nvSpPr>
        <p:spPr>
          <a:xfrm>
            <a:off x="11064240" y="6510528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pPr algn="r"/>
            <a:r>
              <a:rPr lang="zh-CN" sz="850" dirty="0">
                <a:solidFill>
                  <a:srgbClr val="64748B"/>
                </a:solidFill>
                <a:latin typeface="Microsoft YaHei"/>
                <a:ea typeface="Microsoft YaHei"/>
              </a:rPr>
              <a:t>17</a:t>
            </a:r>
            <a:endParaRPr lang="zh-CN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46347-4B7F-1E8F-59E2-B241EE46F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>
            <a:extLst>
              <a:ext uri="{FF2B5EF4-FFF2-40B4-BE49-F238E27FC236}">
                <a16:creationId xmlns:a16="http://schemas.microsoft.com/office/drawing/2014/main" id="{4A9D11E8-764B-16D3-8578-A22C87D3A773}"/>
              </a:ext>
            </a:extLst>
          </p:cNvPr>
          <p:cNvSpPr/>
          <p:nvPr/>
        </p:nvSpPr>
        <p:spPr>
          <a:xfrm>
            <a:off x="0" y="0"/>
            <a:ext cx="12192000" cy="201168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21495140-C534-6B24-B435-82815CB63664}"/>
              </a:ext>
            </a:extLst>
          </p:cNvPr>
          <p:cNvSpPr txBox="1"/>
          <p:nvPr/>
        </p:nvSpPr>
        <p:spPr>
          <a:xfrm>
            <a:off x="502920" y="310896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r>
              <a:rPr lang="zh-CN" sz="2500" dirty="0">
                <a:solidFill>
                  <a:srgbClr val="111827"/>
                </a:solidFill>
                <a:latin typeface="Microsoft YaHei"/>
                <a:ea typeface="Microsoft YaHei"/>
              </a:rPr>
              <a:t>系统运行效果：管理后台与平台治理</a:t>
            </a:r>
            <a:endParaRPr lang="zh-CN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B45F1780-FCB7-4D4E-A6FD-2F7727C60918}"/>
              </a:ext>
            </a:extLst>
          </p:cNvPr>
          <p:cNvSpPr txBox="1"/>
          <p:nvPr/>
        </p:nvSpPr>
        <p:spPr>
          <a:xfrm>
            <a:off x="530352" y="768096"/>
            <a:ext cx="9144000" cy="215444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r>
              <a:rPr lang="zh-CN" sz="1400" dirty="0">
                <a:solidFill>
                  <a:srgbClr val="64748B"/>
                </a:solidFill>
                <a:latin typeface="Microsoft YaHei"/>
                <a:ea typeface="Microsoft YaHei"/>
              </a:rPr>
              <a:t>管理员可维护工具、Agent、RAG、服务商和认证配置</a:t>
            </a:r>
            <a:endParaRPr lang="zh-CN" sz="1400" dirty="0"/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822D0EE6-987D-1799-18EA-E1A593F17114}"/>
              </a:ext>
            </a:extLst>
          </p:cNvPr>
          <p:cNvSpPr txBox="1"/>
          <p:nvPr/>
        </p:nvSpPr>
        <p:spPr>
          <a:xfrm>
            <a:off x="10195560" y="402336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pPr algn="r"/>
            <a:r>
              <a:rPr lang="zh-CN" sz="1100" dirty="0">
                <a:solidFill>
                  <a:srgbClr val="2563EB"/>
                </a:solidFill>
                <a:latin typeface="Microsoft YaHei"/>
                <a:ea typeface="Microsoft YaHei"/>
              </a:rPr>
              <a:t>AgentX</a:t>
            </a:r>
            <a:endParaRPr lang="zh-CN"/>
          </a:p>
        </p:txBody>
      </p:sp>
      <p:pic>
        <p:nvPicPr>
          <p:cNvPr id="17" name="image23.png">
            <a:extLst>
              <a:ext uri="{FF2B5EF4-FFF2-40B4-BE49-F238E27FC236}">
                <a16:creationId xmlns:a16="http://schemas.microsoft.com/office/drawing/2014/main" id="{34B2E9D2-82E9-64E2-3725-D302D35161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124711"/>
            <a:ext cx="6981338" cy="3719132"/>
          </a:xfrm>
          <a:prstGeom prst="rect">
            <a:avLst/>
          </a:prstGeom>
          <a:ln w="6350">
            <a:solidFill>
              <a:srgbClr val="D8E2F0"/>
            </a:solidFill>
          </a:ln>
        </p:spPr>
      </p:pic>
      <p:sp>
        <p:nvSpPr>
          <p:cNvPr id="18" name="TextBox 18">
            <a:extLst>
              <a:ext uri="{FF2B5EF4-FFF2-40B4-BE49-F238E27FC236}">
                <a16:creationId xmlns:a16="http://schemas.microsoft.com/office/drawing/2014/main" id="{3D4A1E39-27B0-C973-74FB-BDD90FDEBB1D}"/>
              </a:ext>
            </a:extLst>
          </p:cNvPr>
          <p:cNvSpPr txBox="1"/>
          <p:nvPr/>
        </p:nvSpPr>
        <p:spPr>
          <a:xfrm>
            <a:off x="960120" y="5321809"/>
            <a:ext cx="10241280" cy="651332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pPr marL="260000" indent="-150000">
              <a:lnSpc>
                <a:spcPct val="150000"/>
              </a:lnSpc>
              <a:buChar char="•"/>
            </a:pPr>
            <a:r>
              <a:rPr lang="zh-CN" sz="1500" dirty="0">
                <a:solidFill>
                  <a:srgbClr val="111827"/>
                </a:solidFill>
                <a:latin typeface="Microsoft YaHei"/>
                <a:ea typeface="Microsoft YaHei"/>
              </a:rPr>
              <a:t>管理端让系统具备运营和治理能力，而不只是个人使用工具</a:t>
            </a:r>
            <a:endParaRPr lang="zh-CN" dirty="0"/>
          </a:p>
          <a:p>
            <a:pPr marL="260000" indent="-150000">
              <a:lnSpc>
                <a:spcPct val="150000"/>
              </a:lnSpc>
              <a:buChar char="•"/>
            </a:pPr>
            <a:r>
              <a:rPr lang="zh-CN" sz="1500" dirty="0">
                <a:solidFill>
                  <a:srgbClr val="111827"/>
                </a:solidFill>
                <a:latin typeface="Microsoft YaHei"/>
                <a:ea typeface="Microsoft YaHei"/>
              </a:rPr>
              <a:t>工具/RAG 审核、服务商管理、认证开关提高平台可控性</a:t>
            </a:r>
            <a:endParaRPr lang="zh-CN" dirty="0"/>
          </a:p>
        </p:txBody>
      </p:sp>
      <p:cxnSp>
        <p:nvCxnSpPr>
          <p:cNvPr id="19" name="Connector 19">
            <a:extLst>
              <a:ext uri="{FF2B5EF4-FFF2-40B4-BE49-F238E27FC236}">
                <a16:creationId xmlns:a16="http://schemas.microsoft.com/office/drawing/2014/main" id="{9C518928-F50F-AAB5-A21A-D8F1F7959B94}"/>
              </a:ext>
            </a:extLst>
          </p:cNvPr>
          <p:cNvCxnSpPr/>
          <p:nvPr/>
        </p:nvCxnSpPr>
        <p:spPr>
          <a:xfrm>
            <a:off x="502920" y="6473952"/>
            <a:ext cx="11155680" cy="1"/>
          </a:xfrm>
          <a:prstGeom prst="straightConnector1">
            <a:avLst/>
          </a:prstGeom>
          <a:ln w="9000">
            <a:solidFill>
              <a:srgbClr val="E2E8F0"/>
            </a:solidFill>
          </a:ln>
        </p:spPr>
      </p:cxnSp>
      <p:sp>
        <p:nvSpPr>
          <p:cNvPr id="20" name="TextBox 20">
            <a:extLst>
              <a:ext uri="{FF2B5EF4-FFF2-40B4-BE49-F238E27FC236}">
                <a16:creationId xmlns:a16="http://schemas.microsoft.com/office/drawing/2014/main" id="{81E39D49-54C5-3BC2-8E54-C41A279CCFE0}"/>
              </a:ext>
            </a:extLst>
          </p:cNvPr>
          <p:cNvSpPr txBox="1"/>
          <p:nvPr/>
        </p:nvSpPr>
        <p:spPr>
          <a:xfrm>
            <a:off x="548640" y="6510528"/>
            <a:ext cx="530352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r>
              <a:rPr lang="zh-CN" sz="850" dirty="0">
                <a:solidFill>
                  <a:srgbClr val="64748B"/>
                </a:solidFill>
                <a:latin typeface="Microsoft YaHei"/>
                <a:ea typeface="Microsoft YaHei"/>
              </a:rPr>
              <a:t>基于 Spring Boot 与 Next.js 的智能 Agent 平台设计与实现</a:t>
            </a:r>
            <a:endParaRPr lang="zh-CN"/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5C424DC8-3CE9-CC22-679E-BF782919AAE1}"/>
              </a:ext>
            </a:extLst>
          </p:cNvPr>
          <p:cNvSpPr txBox="1"/>
          <p:nvPr/>
        </p:nvSpPr>
        <p:spPr>
          <a:xfrm>
            <a:off x="11064240" y="6510528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pPr algn="r"/>
            <a:r>
              <a:rPr lang="zh-CN" sz="850" dirty="0">
                <a:solidFill>
                  <a:srgbClr val="64748B"/>
                </a:solidFill>
                <a:latin typeface="Microsoft YaHei"/>
                <a:ea typeface="Microsoft YaHei"/>
              </a:rPr>
              <a:t>17</a:t>
            </a:r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29135804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/>
          <p:nvPr/>
        </p:nvSpPr>
        <p:spPr>
          <a:xfrm>
            <a:off x="0" y="0"/>
            <a:ext cx="12192000" cy="201168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502920" y="310896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r>
              <a:rPr lang="zh-CN" sz="2500" dirty="0">
                <a:solidFill>
                  <a:srgbClr val="111827"/>
                </a:solidFill>
                <a:latin typeface="Microsoft YaHei"/>
                <a:ea typeface="Microsoft YaHei"/>
              </a:rPr>
              <a:t>测试验证与演示路径</a:t>
            </a:r>
            <a:endParaRPr lang="zh-CN"/>
          </a:p>
        </p:txBody>
      </p:sp>
      <p:sp>
        <p:nvSpPr>
          <p:cNvPr id="13" name="TextBox 13"/>
          <p:cNvSpPr txBox="1"/>
          <p:nvPr/>
        </p:nvSpPr>
        <p:spPr>
          <a:xfrm>
            <a:off x="530352" y="768096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r>
              <a:rPr lang="zh-CN" sz="1150" dirty="0">
                <a:solidFill>
                  <a:srgbClr val="64748B"/>
                </a:solidFill>
                <a:latin typeface="Microsoft YaHei"/>
                <a:ea typeface="Microsoft YaHei"/>
              </a:rPr>
              <a:t>测试覆盖核心业务链路、接口行为和部署可用性</a:t>
            </a:r>
            <a:endParaRPr lang="zh-CN"/>
          </a:p>
        </p:txBody>
      </p:sp>
      <p:sp>
        <p:nvSpPr>
          <p:cNvPr id="14" name="TextBox 14"/>
          <p:cNvSpPr txBox="1"/>
          <p:nvPr/>
        </p:nvSpPr>
        <p:spPr>
          <a:xfrm>
            <a:off x="10195560" y="402336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pPr algn="r"/>
            <a:r>
              <a:rPr lang="zh-CN" sz="1100" dirty="0">
                <a:solidFill>
                  <a:srgbClr val="2563EB"/>
                </a:solidFill>
                <a:latin typeface="Microsoft YaHei"/>
                <a:ea typeface="Microsoft YaHei"/>
              </a:rPr>
              <a:t>AgentX</a:t>
            </a:r>
            <a:endParaRPr lang="zh-CN"/>
          </a:p>
        </p:txBody>
      </p:sp>
      <p:sp>
        <p:nvSpPr>
          <p:cNvPr id="15" name="Shape 15"/>
          <p:cNvSpPr/>
          <p:nvPr/>
        </p:nvSpPr>
        <p:spPr>
          <a:xfrm>
            <a:off x="777240" y="1325880"/>
            <a:ext cx="3246120" cy="2514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2F0"/>
            </a:solidFill>
          </a:ln>
        </p:spPr>
      </p:sp>
      <p:sp>
        <p:nvSpPr>
          <p:cNvPr id="16" name="Shape 16"/>
          <p:cNvSpPr/>
          <p:nvPr/>
        </p:nvSpPr>
        <p:spPr>
          <a:xfrm>
            <a:off x="777240" y="1325880"/>
            <a:ext cx="73152" cy="25146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978408" y="1435608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r>
              <a:rPr lang="zh-CN" sz="1500" dirty="0">
                <a:solidFill>
                  <a:srgbClr val="111827"/>
                </a:solidFill>
                <a:latin typeface="Microsoft YaHei"/>
                <a:ea typeface="Microsoft YaHei"/>
              </a:rPr>
              <a:t>功能测试</a:t>
            </a:r>
            <a:endParaRPr lang="zh-CN"/>
          </a:p>
        </p:txBody>
      </p:sp>
      <p:sp>
        <p:nvSpPr>
          <p:cNvPr id="18" name="TextBox 18"/>
          <p:cNvSpPr txBox="1"/>
          <p:nvPr/>
        </p:nvSpPr>
        <p:spPr>
          <a:xfrm>
            <a:off x="978408" y="1828800"/>
            <a:ext cx="2926080" cy="1577355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pPr marL="260000" indent="-150000">
              <a:lnSpc>
                <a:spcPct val="150000"/>
              </a:lnSpc>
              <a:buChar char="•"/>
            </a:pPr>
            <a:r>
              <a:rPr lang="zh-CN" sz="1400" dirty="0">
                <a:solidFill>
                  <a:srgbClr val="64748B"/>
                </a:solidFill>
                <a:latin typeface="Microsoft YaHei"/>
                <a:ea typeface="Microsoft YaHei"/>
              </a:rPr>
              <a:t>登录</a:t>
            </a:r>
            <a:endParaRPr lang="zh-CN" sz="1400" dirty="0"/>
          </a:p>
          <a:p>
            <a:pPr marL="260000" indent="-150000">
              <a:lnSpc>
                <a:spcPct val="150000"/>
              </a:lnSpc>
              <a:buChar char="•"/>
            </a:pPr>
            <a:r>
              <a:rPr lang="zh-CN" sz="1400" dirty="0">
                <a:solidFill>
                  <a:srgbClr val="64748B"/>
                </a:solidFill>
                <a:latin typeface="Microsoft YaHei"/>
                <a:ea typeface="Microsoft YaHei"/>
              </a:rPr>
              <a:t>创建 Agent</a:t>
            </a:r>
            <a:endParaRPr lang="zh-CN" sz="1400" dirty="0"/>
          </a:p>
          <a:p>
            <a:pPr marL="260000" indent="-150000">
              <a:lnSpc>
                <a:spcPct val="150000"/>
              </a:lnSpc>
              <a:buChar char="•"/>
            </a:pPr>
            <a:r>
              <a:rPr lang="zh-CN" sz="1400" dirty="0">
                <a:solidFill>
                  <a:srgbClr val="64748B"/>
                </a:solidFill>
                <a:latin typeface="Microsoft YaHei"/>
                <a:ea typeface="Microsoft YaHei"/>
              </a:rPr>
              <a:t>会话问答</a:t>
            </a:r>
            <a:endParaRPr lang="zh-CN" sz="1400" dirty="0"/>
          </a:p>
          <a:p>
            <a:pPr marL="260000" indent="-150000">
              <a:lnSpc>
                <a:spcPct val="150000"/>
              </a:lnSpc>
              <a:buChar char="•"/>
            </a:pPr>
            <a:r>
              <a:rPr lang="zh-CN" sz="1400" dirty="0">
                <a:solidFill>
                  <a:srgbClr val="64748B"/>
                </a:solidFill>
                <a:latin typeface="Microsoft YaHei"/>
                <a:ea typeface="Microsoft YaHei"/>
              </a:rPr>
              <a:t>知识库上传</a:t>
            </a:r>
            <a:endParaRPr lang="zh-CN" sz="1400" dirty="0"/>
          </a:p>
          <a:p>
            <a:pPr marL="260000" indent="-150000">
              <a:lnSpc>
                <a:spcPct val="150000"/>
              </a:lnSpc>
              <a:buChar char="•"/>
            </a:pPr>
            <a:r>
              <a:rPr lang="zh-CN" sz="1400" dirty="0">
                <a:solidFill>
                  <a:srgbClr val="64748B"/>
                </a:solidFill>
                <a:latin typeface="Microsoft YaHei"/>
                <a:ea typeface="Microsoft YaHei"/>
              </a:rPr>
              <a:t>工具安装</a:t>
            </a:r>
            <a:endParaRPr lang="zh-CN" sz="1400" dirty="0"/>
          </a:p>
        </p:txBody>
      </p:sp>
      <p:sp>
        <p:nvSpPr>
          <p:cNvPr id="19" name="Shape 19"/>
          <p:cNvSpPr/>
          <p:nvPr/>
        </p:nvSpPr>
        <p:spPr>
          <a:xfrm>
            <a:off x="4480559" y="1325880"/>
            <a:ext cx="3246120" cy="2514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2F0"/>
            </a:solidFill>
          </a:ln>
        </p:spPr>
      </p:sp>
      <p:sp>
        <p:nvSpPr>
          <p:cNvPr id="20" name="Shape 20"/>
          <p:cNvSpPr/>
          <p:nvPr/>
        </p:nvSpPr>
        <p:spPr>
          <a:xfrm>
            <a:off x="4480559" y="1325880"/>
            <a:ext cx="73152" cy="2514600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4681727" y="1435608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r>
              <a:rPr lang="zh-CN" sz="1500" dirty="0">
                <a:solidFill>
                  <a:srgbClr val="111827"/>
                </a:solidFill>
                <a:latin typeface="Microsoft YaHei"/>
                <a:ea typeface="Microsoft YaHei"/>
              </a:rPr>
              <a:t>接口测试</a:t>
            </a:r>
            <a:endParaRPr lang="zh-CN"/>
          </a:p>
        </p:txBody>
      </p:sp>
      <p:sp>
        <p:nvSpPr>
          <p:cNvPr id="22" name="TextBox 22"/>
          <p:cNvSpPr txBox="1"/>
          <p:nvPr/>
        </p:nvSpPr>
        <p:spPr>
          <a:xfrm>
            <a:off x="4681727" y="1828800"/>
            <a:ext cx="2926080" cy="1254189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pPr marL="260000" indent="-150000">
              <a:lnSpc>
                <a:spcPct val="150000"/>
              </a:lnSpc>
              <a:buChar char="•"/>
            </a:pPr>
            <a:r>
              <a:rPr lang="zh-CN" sz="1400" dirty="0">
                <a:solidFill>
                  <a:srgbClr val="64748B"/>
                </a:solidFill>
                <a:latin typeface="Microsoft YaHei"/>
                <a:ea typeface="Microsoft YaHei"/>
              </a:rPr>
              <a:t>统一响应格式</a:t>
            </a:r>
            <a:endParaRPr lang="zh-CN" sz="1400" dirty="0"/>
          </a:p>
          <a:p>
            <a:pPr marL="260000" indent="-150000">
              <a:lnSpc>
                <a:spcPct val="150000"/>
              </a:lnSpc>
              <a:buChar char="•"/>
            </a:pPr>
            <a:r>
              <a:rPr lang="zh-CN" sz="1400" dirty="0">
                <a:solidFill>
                  <a:srgbClr val="64748B"/>
                </a:solidFill>
                <a:latin typeface="Microsoft YaHei"/>
                <a:ea typeface="Microsoft YaHei"/>
              </a:rPr>
              <a:t>权限拦截</a:t>
            </a:r>
            <a:endParaRPr lang="zh-CN" sz="1400" dirty="0"/>
          </a:p>
          <a:p>
            <a:pPr marL="260000" indent="-150000">
              <a:lnSpc>
                <a:spcPct val="150000"/>
              </a:lnSpc>
              <a:buChar char="•"/>
            </a:pPr>
            <a:r>
              <a:rPr lang="zh-CN" sz="1400" dirty="0">
                <a:solidFill>
                  <a:srgbClr val="64748B"/>
                </a:solidFill>
                <a:latin typeface="Microsoft YaHei"/>
                <a:ea typeface="Microsoft YaHei"/>
              </a:rPr>
              <a:t>异常提示</a:t>
            </a:r>
            <a:endParaRPr lang="zh-CN" sz="1400" dirty="0"/>
          </a:p>
          <a:p>
            <a:pPr marL="260000" indent="-150000">
              <a:lnSpc>
                <a:spcPct val="150000"/>
              </a:lnSpc>
              <a:buChar char="•"/>
            </a:pPr>
            <a:r>
              <a:rPr lang="zh-CN" sz="1400" dirty="0">
                <a:solidFill>
                  <a:srgbClr val="64748B"/>
                </a:solidFill>
                <a:latin typeface="Microsoft YaHei"/>
                <a:ea typeface="Microsoft YaHei"/>
              </a:rPr>
              <a:t>API 地址适配</a:t>
            </a:r>
            <a:endParaRPr lang="zh-CN" sz="1400" dirty="0"/>
          </a:p>
        </p:txBody>
      </p:sp>
      <p:sp>
        <p:nvSpPr>
          <p:cNvPr id="23" name="Shape 23"/>
          <p:cNvSpPr/>
          <p:nvPr/>
        </p:nvSpPr>
        <p:spPr>
          <a:xfrm>
            <a:off x="8183879" y="1325880"/>
            <a:ext cx="3246120" cy="2514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2F0"/>
            </a:solidFill>
          </a:ln>
        </p:spPr>
      </p:sp>
      <p:sp>
        <p:nvSpPr>
          <p:cNvPr id="24" name="Shape 24"/>
          <p:cNvSpPr/>
          <p:nvPr/>
        </p:nvSpPr>
        <p:spPr>
          <a:xfrm>
            <a:off x="8183879" y="1325880"/>
            <a:ext cx="73152" cy="2514600"/>
          </a:xfrm>
          <a:prstGeom prst="rect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8385047" y="1435608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r>
              <a:rPr lang="zh-CN" sz="1500" dirty="0">
                <a:solidFill>
                  <a:srgbClr val="111827"/>
                </a:solidFill>
                <a:latin typeface="Microsoft YaHei"/>
                <a:ea typeface="Microsoft YaHei"/>
              </a:rPr>
              <a:t>部署测试</a:t>
            </a:r>
            <a:endParaRPr lang="zh-CN"/>
          </a:p>
        </p:txBody>
      </p:sp>
      <p:sp>
        <p:nvSpPr>
          <p:cNvPr id="26" name="TextBox 26"/>
          <p:cNvSpPr txBox="1"/>
          <p:nvPr/>
        </p:nvSpPr>
        <p:spPr>
          <a:xfrm>
            <a:off x="8385047" y="1828800"/>
            <a:ext cx="2926080" cy="1254189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pPr marL="260000" indent="-150000">
              <a:lnSpc>
                <a:spcPct val="150000"/>
              </a:lnSpc>
              <a:buChar char="•"/>
            </a:pPr>
            <a:r>
              <a:rPr lang="zh-CN" sz="1400" dirty="0">
                <a:solidFill>
                  <a:srgbClr val="64748B"/>
                </a:solidFill>
                <a:latin typeface="Microsoft YaHei"/>
                <a:ea typeface="Microsoft YaHei"/>
              </a:rPr>
              <a:t>Docker Compose 启动</a:t>
            </a:r>
            <a:endParaRPr lang="zh-CN" sz="1400" dirty="0"/>
          </a:p>
          <a:p>
            <a:pPr marL="260000" indent="-150000">
              <a:lnSpc>
                <a:spcPct val="150000"/>
              </a:lnSpc>
              <a:buChar char="•"/>
            </a:pPr>
            <a:r>
              <a:rPr lang="zh-CN" sz="1400" dirty="0">
                <a:solidFill>
                  <a:srgbClr val="64748B"/>
                </a:solidFill>
                <a:latin typeface="Microsoft YaHei"/>
                <a:ea typeface="Microsoft YaHei"/>
              </a:rPr>
              <a:t>健康检查</a:t>
            </a:r>
            <a:endParaRPr lang="zh-CN" sz="1400" dirty="0"/>
          </a:p>
          <a:p>
            <a:pPr marL="260000" indent="-150000">
              <a:lnSpc>
                <a:spcPct val="150000"/>
              </a:lnSpc>
              <a:buChar char="•"/>
            </a:pPr>
            <a:r>
              <a:rPr lang="zh-CN" sz="1400" dirty="0">
                <a:solidFill>
                  <a:srgbClr val="64748B"/>
                </a:solidFill>
                <a:latin typeface="Microsoft YaHei"/>
                <a:ea typeface="Microsoft YaHei"/>
              </a:rPr>
              <a:t>前后端联调</a:t>
            </a:r>
            <a:endParaRPr lang="zh-CN" sz="1400" dirty="0"/>
          </a:p>
          <a:p>
            <a:pPr marL="260000" indent="-150000">
              <a:lnSpc>
                <a:spcPct val="150000"/>
              </a:lnSpc>
              <a:buChar char="•"/>
            </a:pPr>
            <a:r>
              <a:rPr lang="zh-CN" sz="1400" dirty="0">
                <a:solidFill>
                  <a:srgbClr val="64748B"/>
                </a:solidFill>
                <a:latin typeface="Microsoft YaHei"/>
                <a:ea typeface="Microsoft YaHei"/>
              </a:rPr>
              <a:t>数据持久化</a:t>
            </a:r>
            <a:endParaRPr lang="zh-CN" sz="1400" dirty="0"/>
          </a:p>
        </p:txBody>
      </p:sp>
      <p:sp>
        <p:nvSpPr>
          <p:cNvPr id="27" name="TextBox 27"/>
          <p:cNvSpPr txBox="1"/>
          <p:nvPr/>
        </p:nvSpPr>
        <p:spPr>
          <a:xfrm>
            <a:off x="914400" y="4709160"/>
            <a:ext cx="9875520" cy="391597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D8E2F0"/>
            </a:solidFill>
          </a:ln>
        </p:spPr>
        <p:txBody>
          <a:bodyPr wrap="square" lIns="91440" tIns="45720" rIns="91440" bIns="45720">
            <a:spAutoFit/>
          </a:bodyPr>
          <a:lstStyle/>
          <a:p>
            <a:r>
              <a:rPr lang="zh-CN" altLang="en-US" sz="1700" dirty="0">
                <a:solidFill>
                  <a:srgbClr val="111827"/>
                </a:solidFill>
                <a:latin typeface="Microsoft YaHei"/>
                <a:ea typeface="Microsoft YaHei"/>
              </a:rPr>
              <a:t>测试</a:t>
            </a:r>
            <a:r>
              <a:rPr lang="zh-CN" sz="1700" dirty="0">
                <a:solidFill>
                  <a:srgbClr val="111827"/>
                </a:solidFill>
                <a:latin typeface="Microsoft YaHei"/>
                <a:ea typeface="Microsoft YaHei"/>
              </a:rPr>
              <a:t>路径：登录 → 工作室 → Agent 会话 → 知识库 → 工具中心 → 执行追踪 → 管理后台。</a:t>
            </a:r>
            <a:endParaRPr lang="zh-CN" dirty="0"/>
          </a:p>
        </p:txBody>
      </p:sp>
      <p:cxnSp>
        <p:nvCxnSpPr>
          <p:cNvPr id="28" name="Connector 28"/>
          <p:cNvCxnSpPr/>
          <p:nvPr/>
        </p:nvCxnSpPr>
        <p:spPr>
          <a:xfrm>
            <a:off x="502920" y="6473952"/>
            <a:ext cx="11155680" cy="1"/>
          </a:xfrm>
          <a:prstGeom prst="straightConnector1">
            <a:avLst/>
          </a:prstGeom>
          <a:ln w="9000">
            <a:solidFill>
              <a:srgbClr val="E2E8F0"/>
            </a:solidFill>
          </a:ln>
        </p:spPr>
      </p:cxnSp>
      <p:sp>
        <p:nvSpPr>
          <p:cNvPr id="29" name="TextBox 29"/>
          <p:cNvSpPr txBox="1"/>
          <p:nvPr/>
        </p:nvSpPr>
        <p:spPr>
          <a:xfrm>
            <a:off x="548640" y="6510528"/>
            <a:ext cx="530352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r>
              <a:rPr lang="zh-CN" sz="850" dirty="0">
                <a:solidFill>
                  <a:srgbClr val="64748B"/>
                </a:solidFill>
                <a:latin typeface="Microsoft YaHei"/>
                <a:ea typeface="Microsoft YaHei"/>
              </a:rPr>
              <a:t>基于 Spring Boot 与 Next.js 的智能 Agent 平台设计与实现</a:t>
            </a:r>
            <a:endParaRPr lang="zh-CN"/>
          </a:p>
        </p:txBody>
      </p:sp>
      <p:sp>
        <p:nvSpPr>
          <p:cNvPr id="30" name="TextBox 30"/>
          <p:cNvSpPr txBox="1"/>
          <p:nvPr/>
        </p:nvSpPr>
        <p:spPr>
          <a:xfrm>
            <a:off x="11064240" y="6510528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pPr algn="r"/>
            <a:r>
              <a:rPr lang="zh-CN" sz="850" dirty="0">
                <a:solidFill>
                  <a:srgbClr val="64748B"/>
                </a:solidFill>
                <a:latin typeface="Microsoft YaHei"/>
                <a:ea typeface="Microsoft YaHei"/>
              </a:rPr>
              <a:t>18</a:t>
            </a:r>
            <a:endParaRPr lang="zh-CN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/>
          <p:nvPr/>
        </p:nvSpPr>
        <p:spPr>
          <a:xfrm>
            <a:off x="0" y="0"/>
            <a:ext cx="12192000" cy="201168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502920" y="310896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r>
              <a:rPr lang="zh-CN" sz="2500" dirty="0">
                <a:solidFill>
                  <a:srgbClr val="111827"/>
                </a:solidFill>
                <a:latin typeface="Microsoft YaHei"/>
                <a:ea typeface="Microsoft YaHei"/>
              </a:rPr>
              <a:t>项目难点与改进方向</a:t>
            </a:r>
            <a:endParaRPr lang="zh-CN"/>
          </a:p>
        </p:txBody>
      </p:sp>
      <p:sp>
        <p:nvSpPr>
          <p:cNvPr id="13" name="TextBox 13"/>
          <p:cNvSpPr txBox="1"/>
          <p:nvPr/>
        </p:nvSpPr>
        <p:spPr>
          <a:xfrm>
            <a:off x="530352" y="768096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r>
              <a:rPr lang="zh-CN" sz="1150" dirty="0">
                <a:solidFill>
                  <a:srgbClr val="64748B"/>
                </a:solidFill>
                <a:latin typeface="Microsoft YaHei"/>
                <a:ea typeface="Microsoft YaHei"/>
              </a:rPr>
              <a:t>把复杂性显式拆开，才能说明工作量和后续优化空间</a:t>
            </a:r>
            <a:endParaRPr lang="zh-CN"/>
          </a:p>
        </p:txBody>
      </p:sp>
      <p:sp>
        <p:nvSpPr>
          <p:cNvPr id="14" name="TextBox 14"/>
          <p:cNvSpPr txBox="1"/>
          <p:nvPr/>
        </p:nvSpPr>
        <p:spPr>
          <a:xfrm>
            <a:off x="10195560" y="402336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pPr algn="r"/>
            <a:r>
              <a:rPr lang="zh-CN" sz="1100" dirty="0">
                <a:solidFill>
                  <a:srgbClr val="2563EB"/>
                </a:solidFill>
                <a:latin typeface="Microsoft YaHei"/>
                <a:ea typeface="Microsoft YaHei"/>
              </a:rPr>
              <a:t>AgentX</a:t>
            </a:r>
            <a:endParaRPr lang="zh-CN"/>
          </a:p>
        </p:txBody>
      </p:sp>
      <p:sp>
        <p:nvSpPr>
          <p:cNvPr id="15" name="Shape 15"/>
          <p:cNvSpPr/>
          <p:nvPr/>
        </p:nvSpPr>
        <p:spPr>
          <a:xfrm>
            <a:off x="777240" y="1234440"/>
            <a:ext cx="3337560" cy="3291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2F0"/>
            </a:solidFill>
          </a:ln>
        </p:spPr>
      </p:sp>
      <p:sp>
        <p:nvSpPr>
          <p:cNvPr id="16" name="Shape 16"/>
          <p:cNvSpPr/>
          <p:nvPr/>
        </p:nvSpPr>
        <p:spPr>
          <a:xfrm>
            <a:off x="777240" y="1234440"/>
            <a:ext cx="73152" cy="329184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978408" y="1344168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r>
              <a:rPr lang="zh-CN" sz="1500" dirty="0">
                <a:solidFill>
                  <a:srgbClr val="111827"/>
                </a:solidFill>
                <a:latin typeface="Microsoft YaHei"/>
                <a:ea typeface="Microsoft YaHei"/>
              </a:rPr>
              <a:t>已解决的复杂度</a:t>
            </a:r>
            <a:endParaRPr lang="zh-CN"/>
          </a:p>
        </p:txBody>
      </p:sp>
      <p:sp>
        <p:nvSpPr>
          <p:cNvPr id="18" name="TextBox 18"/>
          <p:cNvSpPr txBox="1"/>
          <p:nvPr/>
        </p:nvSpPr>
        <p:spPr>
          <a:xfrm>
            <a:off x="978408" y="1737360"/>
            <a:ext cx="3017520" cy="1254189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pPr marL="260000" indent="-150000">
              <a:lnSpc>
                <a:spcPct val="150000"/>
              </a:lnSpc>
              <a:buChar char="•"/>
            </a:pPr>
            <a:r>
              <a:rPr lang="zh-CN" sz="1400" dirty="0">
                <a:solidFill>
                  <a:srgbClr val="64748B"/>
                </a:solidFill>
                <a:latin typeface="Microsoft YaHei"/>
                <a:ea typeface="Microsoft YaHei"/>
              </a:rPr>
              <a:t>多业务域分层组织</a:t>
            </a:r>
            <a:endParaRPr lang="zh-CN" sz="1400" dirty="0"/>
          </a:p>
          <a:p>
            <a:pPr marL="260000" indent="-150000">
              <a:lnSpc>
                <a:spcPct val="150000"/>
              </a:lnSpc>
              <a:buChar char="•"/>
            </a:pPr>
            <a:r>
              <a:rPr lang="zh-CN" sz="1400" dirty="0">
                <a:solidFill>
                  <a:srgbClr val="64748B"/>
                </a:solidFill>
                <a:latin typeface="Microsoft YaHei"/>
                <a:ea typeface="Microsoft YaHei"/>
              </a:rPr>
              <a:t>RAG 长链路状态管理</a:t>
            </a:r>
            <a:endParaRPr lang="zh-CN" sz="1400" dirty="0"/>
          </a:p>
          <a:p>
            <a:pPr marL="260000" indent="-150000">
              <a:lnSpc>
                <a:spcPct val="150000"/>
              </a:lnSpc>
              <a:buChar char="•"/>
            </a:pPr>
            <a:r>
              <a:rPr lang="zh-CN" sz="1400" dirty="0">
                <a:solidFill>
                  <a:srgbClr val="64748B"/>
                </a:solidFill>
                <a:latin typeface="Microsoft YaHei"/>
                <a:ea typeface="Microsoft YaHei"/>
              </a:rPr>
              <a:t>流式会话与消息持久化</a:t>
            </a:r>
            <a:endParaRPr lang="zh-CN" sz="1400" dirty="0"/>
          </a:p>
          <a:p>
            <a:pPr marL="260000" indent="-150000">
              <a:lnSpc>
                <a:spcPct val="150000"/>
              </a:lnSpc>
              <a:buChar char="•"/>
            </a:pPr>
            <a:r>
              <a:rPr lang="zh-CN" sz="1400" dirty="0">
                <a:solidFill>
                  <a:srgbClr val="64748B"/>
                </a:solidFill>
                <a:latin typeface="Microsoft YaHei"/>
                <a:ea typeface="Microsoft YaHei"/>
              </a:rPr>
              <a:t>Docker Compose 编排</a:t>
            </a:r>
            <a:endParaRPr lang="zh-CN" sz="1400" dirty="0"/>
          </a:p>
        </p:txBody>
      </p:sp>
      <p:sp>
        <p:nvSpPr>
          <p:cNvPr id="19" name="Shape 19"/>
          <p:cNvSpPr/>
          <p:nvPr/>
        </p:nvSpPr>
        <p:spPr>
          <a:xfrm>
            <a:off x="4434840" y="1234440"/>
            <a:ext cx="3337560" cy="3291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2F0"/>
            </a:solidFill>
          </a:ln>
        </p:spPr>
      </p:sp>
      <p:sp>
        <p:nvSpPr>
          <p:cNvPr id="20" name="Shape 20"/>
          <p:cNvSpPr/>
          <p:nvPr/>
        </p:nvSpPr>
        <p:spPr>
          <a:xfrm>
            <a:off x="4434840" y="1234440"/>
            <a:ext cx="73152" cy="3291840"/>
          </a:xfrm>
          <a:prstGeom prst="rect">
            <a:avLst/>
          </a:prstGeom>
          <a:solidFill>
            <a:srgbClr val="F97316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4636008" y="1344168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r>
              <a:rPr lang="zh-CN" sz="1500" dirty="0">
                <a:solidFill>
                  <a:srgbClr val="111827"/>
                </a:solidFill>
                <a:latin typeface="Microsoft YaHei"/>
                <a:ea typeface="Microsoft YaHei"/>
              </a:rPr>
              <a:t>当前不足</a:t>
            </a:r>
            <a:endParaRPr lang="zh-CN"/>
          </a:p>
        </p:txBody>
      </p:sp>
      <p:sp>
        <p:nvSpPr>
          <p:cNvPr id="22" name="TextBox 22"/>
          <p:cNvSpPr txBox="1"/>
          <p:nvPr/>
        </p:nvSpPr>
        <p:spPr>
          <a:xfrm>
            <a:off x="4636008" y="1737360"/>
            <a:ext cx="3017520" cy="1254189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pPr marL="260000" indent="-150000">
              <a:lnSpc>
                <a:spcPct val="150000"/>
              </a:lnSpc>
              <a:buChar char="•"/>
            </a:pPr>
            <a:r>
              <a:rPr lang="zh-CN" sz="1400" dirty="0">
                <a:solidFill>
                  <a:srgbClr val="64748B"/>
                </a:solidFill>
                <a:latin typeface="Microsoft YaHei"/>
                <a:ea typeface="Microsoft YaHei"/>
              </a:rPr>
              <a:t>自动化测试覆盖仍不足</a:t>
            </a:r>
            <a:endParaRPr lang="zh-CN" sz="1400" dirty="0"/>
          </a:p>
          <a:p>
            <a:pPr marL="260000" indent="-150000">
              <a:lnSpc>
                <a:spcPct val="150000"/>
              </a:lnSpc>
              <a:buChar char="•"/>
            </a:pPr>
            <a:r>
              <a:rPr lang="zh-CN" sz="1400" dirty="0">
                <a:solidFill>
                  <a:srgbClr val="64748B"/>
                </a:solidFill>
                <a:latin typeface="Microsoft YaHei"/>
                <a:ea typeface="Microsoft YaHei"/>
              </a:rPr>
              <a:t>敏感配置需要彻底环境变量化</a:t>
            </a:r>
            <a:endParaRPr lang="zh-CN" sz="1400" dirty="0"/>
          </a:p>
          <a:p>
            <a:pPr marL="260000" indent="-150000">
              <a:lnSpc>
                <a:spcPct val="150000"/>
              </a:lnSpc>
              <a:buChar char="•"/>
            </a:pPr>
            <a:r>
              <a:rPr lang="zh-CN" sz="1400" dirty="0">
                <a:solidFill>
                  <a:srgbClr val="64748B"/>
                </a:solidFill>
                <a:latin typeface="Microsoft YaHei"/>
                <a:ea typeface="Microsoft YaHei"/>
              </a:rPr>
              <a:t>RAG 效果缺少系统化评估</a:t>
            </a:r>
            <a:endParaRPr lang="zh-CN" sz="1400" dirty="0"/>
          </a:p>
          <a:p>
            <a:pPr marL="260000" indent="-150000">
              <a:lnSpc>
                <a:spcPct val="150000"/>
              </a:lnSpc>
              <a:buChar char="•"/>
            </a:pPr>
            <a:r>
              <a:rPr lang="zh-CN" sz="1400" dirty="0">
                <a:solidFill>
                  <a:srgbClr val="64748B"/>
                </a:solidFill>
                <a:latin typeface="Microsoft YaHei"/>
                <a:ea typeface="Microsoft YaHei"/>
              </a:rPr>
              <a:t>工具调用观测可继续增强</a:t>
            </a:r>
            <a:endParaRPr lang="zh-CN" sz="1400" dirty="0"/>
          </a:p>
        </p:txBody>
      </p:sp>
      <p:sp>
        <p:nvSpPr>
          <p:cNvPr id="23" name="Shape 23"/>
          <p:cNvSpPr/>
          <p:nvPr/>
        </p:nvSpPr>
        <p:spPr>
          <a:xfrm>
            <a:off x="8092440" y="1234440"/>
            <a:ext cx="3337560" cy="3291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2F0"/>
            </a:solidFill>
          </a:ln>
        </p:spPr>
      </p:sp>
      <p:sp>
        <p:nvSpPr>
          <p:cNvPr id="24" name="Shape 24"/>
          <p:cNvSpPr/>
          <p:nvPr/>
        </p:nvSpPr>
        <p:spPr>
          <a:xfrm>
            <a:off x="8092440" y="1234440"/>
            <a:ext cx="73152" cy="3291840"/>
          </a:xfrm>
          <a:prstGeom prst="rect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8293608" y="1344168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r>
              <a:rPr lang="zh-CN" sz="1500" dirty="0">
                <a:solidFill>
                  <a:srgbClr val="111827"/>
                </a:solidFill>
                <a:latin typeface="Microsoft YaHei"/>
                <a:ea typeface="Microsoft YaHei"/>
              </a:rPr>
              <a:t>后续方向</a:t>
            </a:r>
            <a:endParaRPr lang="zh-CN"/>
          </a:p>
        </p:txBody>
      </p:sp>
      <p:sp>
        <p:nvSpPr>
          <p:cNvPr id="26" name="TextBox 26"/>
          <p:cNvSpPr txBox="1"/>
          <p:nvPr/>
        </p:nvSpPr>
        <p:spPr>
          <a:xfrm>
            <a:off x="8293608" y="1737360"/>
            <a:ext cx="3017520" cy="1254189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pPr marL="260000" indent="-150000">
              <a:lnSpc>
                <a:spcPct val="150000"/>
              </a:lnSpc>
              <a:buChar char="•"/>
            </a:pPr>
            <a:r>
              <a:rPr lang="zh-CN" sz="1400" dirty="0">
                <a:solidFill>
                  <a:srgbClr val="64748B"/>
                </a:solidFill>
                <a:latin typeface="Microsoft YaHei"/>
                <a:ea typeface="Microsoft YaHei"/>
              </a:rPr>
              <a:t>补充单元/集成/E2E 测试</a:t>
            </a:r>
            <a:endParaRPr lang="zh-CN" sz="1400" dirty="0"/>
          </a:p>
          <a:p>
            <a:pPr marL="260000" indent="-150000">
              <a:lnSpc>
                <a:spcPct val="150000"/>
              </a:lnSpc>
              <a:buChar char="•"/>
            </a:pPr>
            <a:r>
              <a:rPr lang="zh-CN" sz="1400" dirty="0">
                <a:solidFill>
                  <a:srgbClr val="64748B"/>
                </a:solidFill>
                <a:latin typeface="Microsoft YaHei"/>
                <a:ea typeface="Microsoft YaHei"/>
              </a:rPr>
              <a:t>优化分块、召回、rerank</a:t>
            </a:r>
            <a:endParaRPr lang="zh-CN" sz="1400" dirty="0"/>
          </a:p>
          <a:p>
            <a:pPr marL="260000" indent="-150000">
              <a:lnSpc>
                <a:spcPct val="150000"/>
              </a:lnSpc>
              <a:buChar char="•"/>
            </a:pPr>
            <a:r>
              <a:rPr lang="zh-CN" sz="1400" dirty="0">
                <a:solidFill>
                  <a:srgbClr val="64748B"/>
                </a:solidFill>
                <a:latin typeface="Microsoft YaHei"/>
                <a:ea typeface="Microsoft YaHei"/>
              </a:rPr>
              <a:t>增强调用链追踪</a:t>
            </a:r>
            <a:endParaRPr lang="zh-CN" sz="1400" dirty="0"/>
          </a:p>
          <a:p>
            <a:pPr marL="260000" indent="-150000">
              <a:lnSpc>
                <a:spcPct val="150000"/>
              </a:lnSpc>
              <a:buChar char="•"/>
            </a:pPr>
            <a:r>
              <a:rPr lang="zh-CN" sz="1400" dirty="0">
                <a:solidFill>
                  <a:srgbClr val="64748B"/>
                </a:solidFill>
                <a:latin typeface="Microsoft YaHei"/>
                <a:ea typeface="Microsoft YaHei"/>
              </a:rPr>
              <a:t>支持更多模型和工具协议</a:t>
            </a:r>
            <a:endParaRPr lang="zh-CN" sz="1400" dirty="0"/>
          </a:p>
        </p:txBody>
      </p:sp>
      <p:cxnSp>
        <p:nvCxnSpPr>
          <p:cNvPr id="28" name="Connector 28"/>
          <p:cNvCxnSpPr/>
          <p:nvPr/>
        </p:nvCxnSpPr>
        <p:spPr>
          <a:xfrm>
            <a:off x="502920" y="6473952"/>
            <a:ext cx="11155680" cy="1"/>
          </a:xfrm>
          <a:prstGeom prst="straightConnector1">
            <a:avLst/>
          </a:prstGeom>
          <a:ln w="9000">
            <a:solidFill>
              <a:srgbClr val="E2E8F0"/>
            </a:solidFill>
          </a:ln>
        </p:spPr>
      </p:cxnSp>
      <p:sp>
        <p:nvSpPr>
          <p:cNvPr id="29" name="TextBox 29"/>
          <p:cNvSpPr txBox="1"/>
          <p:nvPr/>
        </p:nvSpPr>
        <p:spPr>
          <a:xfrm>
            <a:off x="548640" y="6510528"/>
            <a:ext cx="530352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r>
              <a:rPr lang="zh-CN" sz="850" dirty="0">
                <a:solidFill>
                  <a:srgbClr val="64748B"/>
                </a:solidFill>
                <a:latin typeface="Microsoft YaHei"/>
                <a:ea typeface="Microsoft YaHei"/>
              </a:rPr>
              <a:t>基于 Spring Boot 与 Next.js 的智能 Agent 平台设计与实现</a:t>
            </a:r>
            <a:endParaRPr lang="zh-CN"/>
          </a:p>
        </p:txBody>
      </p:sp>
      <p:sp>
        <p:nvSpPr>
          <p:cNvPr id="30" name="TextBox 30"/>
          <p:cNvSpPr txBox="1"/>
          <p:nvPr/>
        </p:nvSpPr>
        <p:spPr>
          <a:xfrm>
            <a:off x="11064240" y="6510528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pPr algn="r"/>
            <a:r>
              <a:rPr lang="zh-CN" sz="850" dirty="0">
                <a:solidFill>
                  <a:srgbClr val="64748B"/>
                </a:solidFill>
                <a:latin typeface="Microsoft YaHei"/>
                <a:ea typeface="Microsoft YaHei"/>
              </a:rPr>
              <a:t>19</a:t>
            </a:r>
            <a:endParaRPr lang="zh-CN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/>
          <p:nvPr/>
        </p:nvSpPr>
        <p:spPr>
          <a:xfrm>
            <a:off x="0" y="0"/>
            <a:ext cx="12192000" cy="201168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502920" y="310896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r>
              <a:rPr lang="zh-CN" sz="2500" dirty="0">
                <a:solidFill>
                  <a:srgbClr val="111827"/>
                </a:solidFill>
                <a:latin typeface="Microsoft YaHei"/>
                <a:ea typeface="Microsoft YaHei"/>
              </a:rPr>
              <a:t>总结与成员分工</a:t>
            </a:r>
            <a:endParaRPr lang="zh-CN"/>
          </a:p>
        </p:txBody>
      </p:sp>
      <p:sp>
        <p:nvSpPr>
          <p:cNvPr id="13" name="TextBox 13"/>
          <p:cNvSpPr txBox="1"/>
          <p:nvPr/>
        </p:nvSpPr>
        <p:spPr>
          <a:xfrm>
            <a:off x="530352" y="768096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r>
              <a:rPr lang="zh-CN" sz="1150" dirty="0">
                <a:solidFill>
                  <a:srgbClr val="64748B"/>
                </a:solidFill>
                <a:latin typeface="Microsoft YaHei"/>
                <a:ea typeface="Microsoft YaHei"/>
              </a:rPr>
              <a:t>从模型调用到平台工程的一次完整实践</a:t>
            </a:r>
            <a:endParaRPr lang="zh-CN"/>
          </a:p>
        </p:txBody>
      </p:sp>
      <p:sp>
        <p:nvSpPr>
          <p:cNvPr id="14" name="TextBox 14"/>
          <p:cNvSpPr txBox="1"/>
          <p:nvPr/>
        </p:nvSpPr>
        <p:spPr>
          <a:xfrm>
            <a:off x="10195560" y="402336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pPr algn="r"/>
            <a:r>
              <a:rPr lang="zh-CN" sz="1100" dirty="0">
                <a:solidFill>
                  <a:srgbClr val="2563EB"/>
                </a:solidFill>
                <a:latin typeface="Microsoft YaHei"/>
                <a:ea typeface="Microsoft YaHei"/>
              </a:rPr>
              <a:t>AgentX</a:t>
            </a:r>
            <a:endParaRPr lang="zh-CN"/>
          </a:p>
        </p:txBody>
      </p:sp>
      <p:sp>
        <p:nvSpPr>
          <p:cNvPr id="15" name="Shape 15"/>
          <p:cNvSpPr/>
          <p:nvPr/>
        </p:nvSpPr>
        <p:spPr>
          <a:xfrm>
            <a:off x="777239" y="1234440"/>
            <a:ext cx="8579411" cy="25082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2F0"/>
            </a:solidFill>
          </a:ln>
        </p:spPr>
      </p:sp>
      <p:sp>
        <p:nvSpPr>
          <p:cNvPr id="16" name="Shape 16"/>
          <p:cNvSpPr/>
          <p:nvPr/>
        </p:nvSpPr>
        <p:spPr>
          <a:xfrm>
            <a:off x="777240" y="1234440"/>
            <a:ext cx="130734" cy="250822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978408" y="1344167"/>
            <a:ext cx="8007450" cy="230832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r>
              <a:rPr lang="zh-CN" sz="1500" dirty="0">
                <a:solidFill>
                  <a:srgbClr val="111827"/>
                </a:solidFill>
                <a:latin typeface="Microsoft YaHei"/>
                <a:ea typeface="Microsoft YaHei"/>
              </a:rPr>
              <a:t>项目总结</a:t>
            </a:r>
            <a:endParaRPr lang="zh-CN"/>
          </a:p>
        </p:txBody>
      </p:sp>
      <p:sp>
        <p:nvSpPr>
          <p:cNvPr id="18" name="TextBox 18"/>
          <p:cNvSpPr txBox="1"/>
          <p:nvPr/>
        </p:nvSpPr>
        <p:spPr>
          <a:xfrm>
            <a:off x="978408" y="1926620"/>
            <a:ext cx="7530061" cy="1227259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pPr marL="260000" indent="-150000">
              <a:lnSpc>
                <a:spcPct val="200000"/>
              </a:lnSpc>
              <a:buChar char="•"/>
            </a:pPr>
            <a:r>
              <a:rPr lang="zh-CN" sz="1400" dirty="0">
                <a:solidFill>
                  <a:srgbClr val="64748B"/>
                </a:solidFill>
                <a:latin typeface="Microsoft YaHei"/>
                <a:ea typeface="Microsoft YaHei"/>
              </a:rPr>
              <a:t>完成 Agent 创建、会话、RAG、工具、记忆、计费、管理后台和部署闭环</a:t>
            </a:r>
            <a:endParaRPr lang="zh-CN" sz="1400" dirty="0"/>
          </a:p>
          <a:p>
            <a:pPr marL="260000" indent="-150000">
              <a:lnSpc>
                <a:spcPct val="200000"/>
              </a:lnSpc>
              <a:buChar char="•"/>
            </a:pPr>
            <a:r>
              <a:rPr lang="zh-CN" sz="1400" dirty="0">
                <a:solidFill>
                  <a:srgbClr val="64748B"/>
                </a:solidFill>
                <a:latin typeface="Microsoft YaHei"/>
                <a:ea typeface="Microsoft YaHei"/>
              </a:rPr>
              <a:t>系统已上线，可通过测试账号访问验证</a:t>
            </a:r>
            <a:endParaRPr lang="zh-CN" sz="1400" dirty="0"/>
          </a:p>
          <a:p>
            <a:pPr marL="260000" indent="-150000">
              <a:lnSpc>
                <a:spcPct val="200000"/>
              </a:lnSpc>
              <a:buChar char="•"/>
            </a:pPr>
            <a:r>
              <a:rPr lang="zh-CN" sz="1400" dirty="0">
                <a:solidFill>
                  <a:srgbClr val="64748B"/>
                </a:solidFill>
                <a:latin typeface="Microsoft YaHei"/>
                <a:ea typeface="Microsoft YaHei"/>
              </a:rPr>
              <a:t>代码结构具备后续扩展空间</a:t>
            </a:r>
            <a:endParaRPr lang="zh-CN" sz="1400" dirty="0"/>
          </a:p>
        </p:txBody>
      </p:sp>
      <p:sp>
        <p:nvSpPr>
          <p:cNvPr id="27" name="TextBox 27"/>
          <p:cNvSpPr txBox="1"/>
          <p:nvPr/>
        </p:nvSpPr>
        <p:spPr>
          <a:xfrm>
            <a:off x="548640" y="4855464"/>
            <a:ext cx="4434840" cy="772199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pPr>
              <a:lnSpc>
                <a:spcPct val="150000"/>
              </a:lnSpc>
            </a:pPr>
            <a:r>
              <a:rPr lang="zh-CN" sz="2200" dirty="0">
                <a:solidFill>
                  <a:srgbClr val="111827"/>
                </a:solidFill>
                <a:latin typeface="Microsoft YaHei"/>
                <a:ea typeface="Microsoft YaHei"/>
              </a:rPr>
              <a:t>谢谢！欢迎老师和同学批评指正。</a:t>
            </a:r>
            <a:endParaRPr lang="zh-CN" dirty="0"/>
          </a:p>
          <a:p>
            <a:pPr>
              <a:lnSpc>
                <a:spcPct val="150000"/>
              </a:lnSpc>
            </a:pPr>
            <a:r>
              <a:rPr lang="zh-CN" sz="1300" dirty="0">
                <a:solidFill>
                  <a:srgbClr val="64748B"/>
                </a:solidFill>
                <a:latin typeface="Microsoft YaHei"/>
                <a:ea typeface="Microsoft YaHei"/>
              </a:rPr>
              <a:t>线上演示：https://agent.sakurayuki.me</a:t>
            </a:r>
            <a:endParaRPr lang="zh-CN" dirty="0"/>
          </a:p>
        </p:txBody>
      </p:sp>
      <p:cxnSp>
        <p:nvCxnSpPr>
          <p:cNvPr id="28" name="Connector 28"/>
          <p:cNvCxnSpPr/>
          <p:nvPr/>
        </p:nvCxnSpPr>
        <p:spPr>
          <a:xfrm>
            <a:off x="502920" y="6473952"/>
            <a:ext cx="11155680" cy="1"/>
          </a:xfrm>
          <a:prstGeom prst="straightConnector1">
            <a:avLst/>
          </a:prstGeom>
          <a:ln w="9000">
            <a:solidFill>
              <a:srgbClr val="E2E8F0"/>
            </a:solidFill>
          </a:ln>
        </p:spPr>
      </p:cxnSp>
      <p:sp>
        <p:nvSpPr>
          <p:cNvPr id="29" name="TextBox 29"/>
          <p:cNvSpPr txBox="1"/>
          <p:nvPr/>
        </p:nvSpPr>
        <p:spPr>
          <a:xfrm>
            <a:off x="548640" y="6510528"/>
            <a:ext cx="530352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r>
              <a:rPr lang="zh-CN" sz="850" dirty="0">
                <a:solidFill>
                  <a:srgbClr val="64748B"/>
                </a:solidFill>
                <a:latin typeface="Microsoft YaHei"/>
                <a:ea typeface="Microsoft YaHei"/>
              </a:rPr>
              <a:t>基于 Spring Boot 与 Next.js 的智能 Agent 平台设计与实现</a:t>
            </a:r>
            <a:endParaRPr lang="zh-CN"/>
          </a:p>
        </p:txBody>
      </p:sp>
      <p:sp>
        <p:nvSpPr>
          <p:cNvPr id="30" name="TextBox 30"/>
          <p:cNvSpPr txBox="1"/>
          <p:nvPr/>
        </p:nvSpPr>
        <p:spPr>
          <a:xfrm>
            <a:off x="11064240" y="6510528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>
            <a:spAutoFit/>
          </a:bodyPr>
          <a:lstStyle/>
          <a:p>
            <a:pPr algn="r"/>
            <a:r>
              <a:rPr lang="zh-CN" sz="850" dirty="0">
                <a:solidFill>
                  <a:srgbClr val="64748B"/>
                </a:solidFill>
                <a:latin typeface="Microsoft YaHei"/>
                <a:ea typeface="Microsoft YaHei"/>
              </a:rPr>
              <a:t>20</a:t>
            </a:r>
            <a:endParaRPr lang="zh-C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1859</Words>
  <Application>Microsoft Office PowerPoint</Application>
  <PresentationFormat>宽屏</PresentationFormat>
  <Paragraphs>297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26" baseType="lpstr">
      <vt:lpstr>Microsoft YaHei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AgentX智能体平台课程汇报</dc:title>
  <dc:creator>Codex</dc:creator>
  <cp:lastModifiedBy>lucky cat</cp:lastModifiedBy>
  <cp:revision>54</cp:revision>
  <dcterms:modified xsi:type="dcterms:W3CDTF">2026-06-22T09:13:54Z</dcterms:modified>
</cp:coreProperties>
</file>